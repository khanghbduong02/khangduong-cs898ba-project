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0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8EAD35-97FE-47A5-A25B-ECE481F604CD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75CC4A-1DF9-416A-A1DE-86CBF63D0F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022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Print failures like spaghetti, layer cracking, over extrusion, stringing, and warping waste filament, waste machine time, and currently require someone to babysit the printer. My final objective was fourfold: localize defects with bounding boxes, classify the defect type, compare a one-stage and a two-stage detector head-to-head, and evaluate whether image-processing and training-system decisions actually helped.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Before I could trust any result, I had to fix the data. My final dataset covers five classes, and after grouping by source and perceptual similarity, I built a trustworthy grouped-CV protocol. I found the original exported splits had duplicate-content overlap and annotation disagreement, so I excluded the public candidate test split entirely.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 treated image processing as something to test, not assume would help. The result: CLAHE plus Canny did not improve aggregate detection performance, so I rejected it. The biggest domain-engineering win was the label-format repair and validation work underneath everything else.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Here's the full pipeline. Two parallel detector branches, each producing boxes, class, and confidence through class-aware NMS. Important disclosure: this is a systems comparison, not a capacity-matched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This slide shows what actually moved the needle, as a decision timeline rather than a giant grid search. The RPN fix wasn't ordinary tuning; it was a correctness repair to a broken training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02AFA-44D0-F744-8BDD-C2802771C1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03487"/>
            <a:ext cx="9144000" cy="1006475"/>
          </a:xfrm>
        </p:spPr>
        <p:txBody>
          <a:bodyPr anchor="b"/>
          <a:lstStyle>
            <a:lvl1pPr algn="ctr">
              <a:defRPr sz="6000" baseline="0"/>
            </a:lvl1pPr>
          </a:lstStyle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ABA64A-8634-5140-B60F-09086C669D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/>
          </a:p>
        </p:txBody>
      </p:sp>
      <p:pic>
        <p:nvPicPr>
          <p:cNvPr id="9" name="Picture 8" descr="The logo for Wichita State University." title="Wichita State University Logo">
            <a:extLst>
              <a:ext uri="{FF2B5EF4-FFF2-40B4-BE49-F238E27FC236}">
                <a16:creationId xmlns:a16="http://schemas.microsoft.com/office/drawing/2014/main" id="{1ADE4355-A3B2-6449-9D1C-9F7D8F1789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1073" y="1192211"/>
            <a:ext cx="4189854" cy="965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129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4AE9C-BCE1-134F-9AA5-36AC0166BA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57500" y="300039"/>
            <a:ext cx="8503920" cy="9572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1-Column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2DADA-DA3F-374B-8A2B-B0B5F1A463F1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B57CC7-E80B-4E43-9A8C-58FE70FDA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4A545-610A-3246-BBF7-82AC132EB6A8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4C005-7FB8-3D4C-96BE-CD8E4D136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4D0C98-1C77-A04F-96D7-2FB871DF4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47F3-F4BF-2C46-AC54-645A1178D8F6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&quot;WSU&quot; logo for Wichita State University." title="WSU Logo">
            <a:extLst>
              <a:ext uri="{FF2B5EF4-FFF2-40B4-BE49-F238E27FC236}">
                <a16:creationId xmlns:a16="http://schemas.microsoft.com/office/drawing/2014/main" id="{33B1789B-D0E4-4F47-8C64-CCCFE5CB890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 b="37252"/>
          <a:stretch/>
        </p:blipFill>
        <p:spPr>
          <a:xfrm>
            <a:off x="-28576" y="111919"/>
            <a:ext cx="2030521" cy="1131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457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DDA10-D4F1-1246-AC76-4E99217B7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57500" y="301752"/>
            <a:ext cx="8503920" cy="96012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2-Column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7A247-7DFC-E446-938A-2CA021AE3EDD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B5206B-3FC0-CE41-90B0-155B2B1C6F2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F86D33-CD83-4040-BB1F-306A4D9B8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4A545-610A-3246-BBF7-82AC132EB6A8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CB5D88-544F-964C-84FC-051762122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A67E06-089A-6846-8B48-B3A0F23DC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47F3-F4BF-2C46-AC54-645A1178D8F6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&quot;WSU&quot; logo for Wichita State University." title="WSU Logo">
            <a:extLst>
              <a:ext uri="{FF2B5EF4-FFF2-40B4-BE49-F238E27FC236}">
                <a16:creationId xmlns:a16="http://schemas.microsoft.com/office/drawing/2014/main" id="{BC3239E5-4689-FA43-AAF6-CE4F83EE41A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 b="37252"/>
          <a:stretch/>
        </p:blipFill>
        <p:spPr>
          <a:xfrm>
            <a:off x="-28576" y="111919"/>
            <a:ext cx="2030521" cy="1131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98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B0318-CC45-A342-AEE3-670F36387E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Divider Slide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A57E59-4F7B-3B4C-B9E7-67DE80EDB61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Or Alternative Title Slide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DE7E8-47E7-104E-BF54-359C263C9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4A545-610A-3246-BBF7-82AC132EB6A8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2DE16E-EEEB-F04D-B629-FBE01C97F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47F99-D730-2641-86EF-84BCC74BA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147F3-F4BF-2C46-AC54-645A1178D8F6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&quot;WSU&quot; logo for Wichita State University." title="WSU Logo">
            <a:extLst>
              <a:ext uri="{FF2B5EF4-FFF2-40B4-BE49-F238E27FC236}">
                <a16:creationId xmlns:a16="http://schemas.microsoft.com/office/drawing/2014/main" id="{0747E5A0-53E7-3649-A4F4-D53323CF508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 b="37252"/>
          <a:stretch/>
        </p:blipFill>
        <p:spPr>
          <a:xfrm>
            <a:off x="-28576" y="111919"/>
            <a:ext cx="2030521" cy="1131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550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EE8205-8020-9E43-BDC9-8F0646FB4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AD0D22-4086-394C-A571-C6BB444D3D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3091FC-EF27-E34B-B5FE-194D933C90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54A545-610A-3246-BBF7-82AC132EB6A8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871301-3F06-5A49-A699-BBCBCEEE5F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4BA5A-8069-9D49-A99F-3AD1783CEA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F147F3-F4BF-2C46-AC54-645A1178D8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485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602.14582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universe.roboflow.com/mikes-workspace-oebho/3d-print-fail-7ipuj/dataset/1" TargetMode="External"/><Relationship Id="rId5" Type="http://schemas.openxmlformats.org/officeDocument/2006/relationships/hyperlink" Target="https://arxiv.org/abs/2109.00886" TargetMode="External"/><Relationship Id="rId4" Type="http://schemas.openxmlformats.org/officeDocument/2006/relationships/hyperlink" Target="https://arxiv.org/abs/1506.0149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3304375"/>
            <a:ext cx="9144000" cy="1006475"/>
          </a:xfrm>
        </p:spPr>
        <p:txBody>
          <a:bodyPr>
            <a:noAutofit/>
          </a:bodyPr>
          <a:lstStyle/>
          <a:p>
            <a:r>
              <a:rPr lang="en-US" sz="3600" dirty="0"/>
              <a:t>Automated Detection and Classification of 3D Printing Failures Using Image Processing and Deep Learning</a:t>
            </a:r>
            <a:endParaRPr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140753"/>
            <a:ext cx="9144000" cy="1006475"/>
          </a:xfrm>
        </p:spPr>
        <p:txBody>
          <a:bodyPr/>
          <a:lstStyle/>
          <a:p>
            <a:r>
              <a:rPr dirty="0"/>
              <a:t>A Reproducible Scratch-vs-Pretrained Study</a:t>
            </a:r>
          </a:p>
          <a:p>
            <a:r>
              <a:rPr dirty="0"/>
              <a:t>Khang Duong </a:t>
            </a:r>
            <a:r>
              <a:rPr lang="en-US" dirty="0"/>
              <a:t>-</a:t>
            </a:r>
            <a:r>
              <a:rPr dirty="0"/>
              <a:t> CS 898BA </a:t>
            </a:r>
            <a:r>
              <a:rPr lang="en-US" dirty="0"/>
              <a:t>-</a:t>
            </a:r>
            <a:r>
              <a:rPr dirty="0"/>
              <a:t> Final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lnSpc>
                <a:spcPct val="100000"/>
              </a:lnSpc>
              <a:spcBef>
                <a:spcPts val="400"/>
              </a:spcBef>
              <a:defRPr sz="1700"/>
            </a:pPr>
            <a:r>
              <a:t>Failure classes detected: Spaghetti, Layer Cracking, Over Extrusion, Stringing, Warping</a:t>
            </a:r>
          </a:p>
          <a:p>
            <a:pPr>
              <a:lnSpc>
                <a:spcPct val="100000"/>
              </a:lnSpc>
              <a:spcBef>
                <a:spcPts val="400"/>
              </a:spcBef>
              <a:defRPr sz="1700"/>
            </a:pPr>
            <a:r>
              <a:t>Why it matters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defRPr sz="1500"/>
            </a:pPr>
            <a:r>
              <a:t>Undetected print failures waste filament, waste printer time, and require constant manual inspection during long prints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defRPr sz="1500"/>
            </a:pPr>
            <a:r>
              <a:t>Automated, per-frame defect detection can catch failures early and reduce wasted material and operator time</a:t>
            </a:r>
          </a:p>
          <a:p>
            <a:pPr>
              <a:lnSpc>
                <a:spcPct val="100000"/>
              </a:lnSpc>
              <a:spcBef>
                <a:spcPts val="400"/>
              </a:spcBef>
              <a:defRPr sz="1700"/>
            </a:pPr>
            <a:r>
              <a:t>Final objective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defRPr sz="1500"/>
            </a:pPr>
            <a:r>
              <a:t>Localize defects with bounding boxes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defRPr sz="1500"/>
            </a:pPr>
            <a:r>
              <a:t>Classify defect type across five classes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defRPr sz="1500"/>
            </a:pPr>
            <a:r>
              <a:t>Compare a one-stage and a two-stage detector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defRPr sz="1500"/>
            </a:pPr>
            <a:r>
              <a:t>Evaluate image-processing and training-system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Literature and Design Rationale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5688239"/>
              </p:ext>
            </p:extLst>
          </p:nvPr>
        </p:nvGraphicFramePr>
        <p:xfrm>
          <a:off x="838200" y="1825625"/>
          <a:ext cx="10515600" cy="3394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1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8808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rPr sz="1600" dirty="0"/>
                        <a:t>Idea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rPr sz="1600"/>
                        <a:t>Influence on project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8808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600" dirty="0"/>
                        <a:t>One-stage YOLO-style detection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600"/>
                        <a:t>Fast, end-to-end localization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808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600"/>
                        <a:t>Faster R-CNN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600" dirty="0"/>
                        <a:t>Region proposals and a precise two-stage alternative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8808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600"/>
                        <a:t>CLAHE / edge processing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600" dirty="0"/>
                        <a:t>Domain-specific contrast and structure analysis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8811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600"/>
                        <a:t>Pretraining literature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600" dirty="0"/>
                        <a:t>Expected practical advantage of pretrained detectors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38200" y="5346668"/>
            <a:ext cx="10515600" cy="830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95959"/>
                </a:solidFill>
              </a:defRPr>
            </a:pPr>
            <a:r>
              <a:rPr dirty="0"/>
              <a:t>Custom YOLO26-style detector: fast, one-stage design built from scratch for direct box + class prediction in a single pass.  |  Custom Faster R-CNN: </a:t>
            </a:r>
            <a:r>
              <a:rPr dirty="0" err="1"/>
              <a:t>ResNet</a:t>
            </a:r>
            <a:r>
              <a:rPr dirty="0"/>
              <a:t>-style backbone with FPN, RPN, </a:t>
            </a:r>
            <a:r>
              <a:rPr dirty="0" err="1"/>
              <a:t>RoI</a:t>
            </a:r>
            <a:r>
              <a:rPr dirty="0"/>
              <a:t> Align, and per-class NMS — a two-stage, region-proposal alternative.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Auditing Changed the Protocol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lnSpc>
                <a:spcPct val="100000"/>
              </a:lnSpc>
              <a:spcBef>
                <a:spcPts val="600"/>
              </a:spcBef>
              <a:defRPr sz="2000"/>
            </a:pPr>
            <a:r>
              <a:t>Final dataset: 5 classes — Spaghetti, Layer Cracking, Over Extrusion, Stringing, Warping</a:t>
            </a:r>
          </a:p>
          <a:p>
            <a:pPr>
              <a:lnSpc>
                <a:spcPct val="100000"/>
              </a:lnSpc>
              <a:spcBef>
                <a:spcPts val="600"/>
              </a:spcBef>
              <a:defRPr sz="2000"/>
            </a:pPr>
            <a:r>
              <a:t>3,421 records across 823 source / perceptual groups</a:t>
            </a:r>
          </a:p>
          <a:p>
            <a:pPr>
              <a:lnSpc>
                <a:spcPct val="100000"/>
              </a:lnSpc>
              <a:spcBef>
                <a:spcPts val="600"/>
              </a:spcBef>
              <a:defRPr sz="2000"/>
            </a:pPr>
            <a:r>
              <a:t>3 grouped folds, ~2,280 train images per fold</a:t>
            </a:r>
          </a:p>
          <a:p>
            <a:pPr>
              <a:lnSpc>
                <a:spcPct val="100000"/>
              </a:lnSpc>
              <a:spcBef>
                <a:spcPts val="600"/>
              </a:spcBef>
              <a:defRPr sz="2000"/>
            </a:pPr>
            <a:r>
              <a:t>The audit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defRPr sz="1800"/>
            </a:pPr>
            <a:r>
              <a:t>Original exported splits had duplicate-content overlap and annotation disagreement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defRPr sz="1800"/>
            </a:pPr>
            <a:r>
              <a:t>The public candidate test split was excluded from all reported results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defRPr sz="1800"/>
            </a:pPr>
            <a:r>
              <a:t>Results are grouped-validation estimates, not independent deployment claims (verified in cv_summary.json)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Image 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72477"/>
            <a:ext cx="10515600" cy="4846341"/>
          </a:xfrm>
        </p:spPr>
        <p:txBody>
          <a:bodyPr wrap="square">
            <a:norm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  <a:defRPr sz="1700"/>
            </a:pPr>
            <a:r>
              <a:rPr dirty="0"/>
              <a:t>Pipeline: raw RGB + mixed labels → strict label audit → polygon-to-box normalization → RGB / CLAHE / </a:t>
            </a:r>
            <a:r>
              <a:rPr dirty="0" err="1"/>
              <a:t>CLAHE+Canny</a:t>
            </a:r>
            <a:r>
              <a:rPr dirty="0"/>
              <a:t> → detection training</a:t>
            </a:r>
          </a:p>
          <a:p>
            <a:pPr>
              <a:lnSpc>
                <a:spcPct val="100000"/>
              </a:lnSpc>
              <a:spcBef>
                <a:spcPts val="400"/>
              </a:spcBef>
              <a:defRPr sz="1700"/>
            </a:pPr>
            <a:r>
              <a:rPr dirty="0"/>
              <a:t>Three preprocessing variants compared: RGB baseline, </a:t>
            </a:r>
            <a:r>
              <a:rPr b="1" dirty="0"/>
              <a:t>LAB + CLAHE</a:t>
            </a:r>
            <a:r>
              <a:rPr dirty="0"/>
              <a:t>, LAB + CLAHE + Canny</a:t>
            </a:r>
          </a:p>
          <a:p>
            <a:pPr>
              <a:lnSpc>
                <a:spcPct val="100000"/>
              </a:lnSpc>
              <a:spcBef>
                <a:spcPts val="400"/>
              </a:spcBef>
              <a:defRPr sz="1700"/>
            </a:pPr>
            <a:endParaRPr lang="en-US" dirty="0"/>
          </a:p>
          <a:p>
            <a:pPr>
              <a:lnSpc>
                <a:spcPct val="100000"/>
              </a:lnSpc>
              <a:spcBef>
                <a:spcPts val="400"/>
              </a:spcBef>
              <a:defRPr sz="1700"/>
            </a:pPr>
            <a:endParaRPr lang="en-US" dirty="0"/>
          </a:p>
          <a:p>
            <a:pPr>
              <a:lnSpc>
                <a:spcPct val="100000"/>
              </a:lnSpc>
              <a:spcBef>
                <a:spcPts val="400"/>
              </a:spcBef>
              <a:defRPr sz="1700"/>
            </a:pPr>
            <a:endParaRPr lang="en-US" dirty="0"/>
          </a:p>
          <a:p>
            <a:pPr>
              <a:lnSpc>
                <a:spcPct val="100000"/>
              </a:lnSpc>
              <a:spcBef>
                <a:spcPts val="400"/>
              </a:spcBef>
              <a:defRPr sz="1700"/>
            </a:pPr>
            <a:endParaRPr lang="en-US" dirty="0"/>
          </a:p>
          <a:p>
            <a:pPr>
              <a:lnSpc>
                <a:spcPct val="100000"/>
              </a:lnSpc>
              <a:spcBef>
                <a:spcPts val="400"/>
              </a:spcBef>
              <a:defRPr sz="1700"/>
            </a:pPr>
            <a:endParaRPr lang="en-US" dirty="0"/>
          </a:p>
          <a:p>
            <a:pPr>
              <a:lnSpc>
                <a:spcPct val="100000"/>
              </a:lnSpc>
              <a:spcBef>
                <a:spcPts val="400"/>
              </a:spcBef>
              <a:defRPr sz="1700"/>
            </a:pPr>
            <a:endParaRPr lang="en-US" dirty="0"/>
          </a:p>
          <a:p>
            <a:pPr>
              <a:lnSpc>
                <a:spcPct val="100000"/>
              </a:lnSpc>
              <a:spcBef>
                <a:spcPts val="400"/>
              </a:spcBef>
              <a:defRPr sz="1700"/>
            </a:pPr>
            <a:endParaRPr lang="en-US" dirty="0"/>
          </a:p>
          <a:p>
            <a:pPr>
              <a:lnSpc>
                <a:spcPct val="100000"/>
              </a:lnSpc>
              <a:spcBef>
                <a:spcPts val="400"/>
              </a:spcBef>
              <a:defRPr sz="1700"/>
            </a:pPr>
            <a:endParaRPr lang="en-US" dirty="0"/>
          </a:p>
          <a:p>
            <a:pPr>
              <a:lnSpc>
                <a:spcPct val="100000"/>
              </a:lnSpc>
              <a:spcBef>
                <a:spcPts val="400"/>
              </a:spcBef>
              <a:defRPr sz="1700"/>
            </a:pPr>
            <a:endParaRPr lang="en-US" dirty="0"/>
          </a:p>
          <a:p>
            <a:pPr>
              <a:lnSpc>
                <a:spcPct val="100000"/>
              </a:lnSpc>
              <a:spcBef>
                <a:spcPts val="400"/>
              </a:spcBef>
              <a:defRPr sz="1700"/>
            </a:pPr>
            <a:r>
              <a:rPr dirty="0"/>
              <a:t>Finding: </a:t>
            </a:r>
            <a:r>
              <a:rPr lang="en-US" dirty="0"/>
              <a:t>LAB + CLAHE improved detection performance over the RGB baseline; adding Canny edges on top (CLAHE + Canny) did not improve results further and was rejected</a:t>
            </a:r>
          </a:p>
          <a:p>
            <a:pPr>
              <a:lnSpc>
                <a:spcPct val="100000"/>
              </a:lnSpc>
              <a:spcBef>
                <a:spcPts val="400"/>
              </a:spcBef>
              <a:defRPr sz="1700"/>
            </a:pPr>
            <a:r>
              <a:rPr dirty="0"/>
              <a:t>Largest domain-engineering contribution was the label-format repair, strict validation, and audit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B9226E-F16C-F5E9-0095-61596A3E21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2222" y="2509340"/>
            <a:ext cx="2390556" cy="23905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E8AA84-6FDE-6B52-6606-E0AB02A2DE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0722" y="2509340"/>
            <a:ext cx="2390556" cy="23905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BFED6A-C958-67B1-18BA-E37761C4CC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9222" y="2509340"/>
            <a:ext cx="2408370" cy="24083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Design: Final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11690"/>
            <a:ext cx="10515600" cy="5032353"/>
          </a:xfrm>
        </p:spPr>
        <p:txBody>
          <a:bodyPr wrap="square">
            <a:normAutofit/>
          </a:bodyPr>
          <a:lstStyle/>
          <a:p>
            <a:pPr>
              <a:lnSpc>
                <a:spcPct val="100000"/>
              </a:lnSpc>
              <a:spcBef>
                <a:spcPts val="400"/>
              </a:spcBef>
              <a:defRPr sz="1700"/>
            </a:pPr>
            <a:r>
              <a:rPr dirty="0"/>
              <a:t>Pipeline: input image → label / data validation → optional RGB / CLAHE / Canny → two detector branches → class-aware NMS → boxes, class, confidence → </a:t>
            </a:r>
            <a:r>
              <a:rPr dirty="0" err="1"/>
              <a:t>mAP</a:t>
            </a:r>
            <a:r>
              <a:rPr dirty="0"/>
              <a:t> / P</a:t>
            </a:r>
            <a:r>
              <a:rPr lang="en-US" dirty="0"/>
              <a:t>recision (P)</a:t>
            </a:r>
            <a:r>
              <a:rPr dirty="0"/>
              <a:t> / R</a:t>
            </a:r>
            <a:r>
              <a:rPr lang="en-US" dirty="0"/>
              <a:t>ecall (R)</a:t>
            </a:r>
            <a:r>
              <a:rPr dirty="0"/>
              <a:t> / confusion matrix</a:t>
            </a:r>
            <a:endParaRPr lang="en-US" dirty="0"/>
          </a:p>
          <a:p>
            <a:pPr>
              <a:lnSpc>
                <a:spcPct val="100000"/>
              </a:lnSpc>
              <a:spcBef>
                <a:spcPts val="400"/>
              </a:spcBef>
              <a:defRPr sz="1700"/>
            </a:pPr>
            <a:endParaRPr lang="en-US" dirty="0"/>
          </a:p>
          <a:p>
            <a:pPr>
              <a:lnSpc>
                <a:spcPct val="100000"/>
              </a:lnSpc>
              <a:spcBef>
                <a:spcPts val="400"/>
              </a:spcBef>
              <a:defRPr sz="1700"/>
            </a:pPr>
            <a:endParaRPr lang="en-US" dirty="0"/>
          </a:p>
          <a:p>
            <a:pPr>
              <a:lnSpc>
                <a:spcPct val="100000"/>
              </a:lnSpc>
              <a:spcBef>
                <a:spcPts val="400"/>
              </a:spcBef>
              <a:defRPr sz="1700"/>
            </a:pPr>
            <a:endParaRPr lang="en-US" dirty="0"/>
          </a:p>
          <a:p>
            <a:pPr>
              <a:lnSpc>
                <a:spcPct val="100000"/>
              </a:lnSpc>
              <a:spcBef>
                <a:spcPts val="400"/>
              </a:spcBef>
              <a:defRPr sz="1700"/>
            </a:pPr>
            <a:endParaRPr lang="en-US" dirty="0"/>
          </a:p>
          <a:p>
            <a:pPr>
              <a:lnSpc>
                <a:spcPct val="100000"/>
              </a:lnSpc>
              <a:spcBef>
                <a:spcPts val="400"/>
              </a:spcBef>
              <a:defRPr sz="1700"/>
            </a:pPr>
            <a:endParaRPr lang="en-US" dirty="0"/>
          </a:p>
          <a:p>
            <a:pPr>
              <a:lnSpc>
                <a:spcPct val="100000"/>
              </a:lnSpc>
              <a:spcBef>
                <a:spcPts val="400"/>
              </a:spcBef>
              <a:defRPr sz="1700"/>
            </a:pPr>
            <a:endParaRPr lang="en-US" dirty="0"/>
          </a:p>
          <a:p>
            <a:pPr>
              <a:lnSpc>
                <a:spcPct val="100000"/>
              </a:lnSpc>
              <a:spcBef>
                <a:spcPts val="400"/>
              </a:spcBef>
              <a:defRPr sz="1700"/>
            </a:pPr>
            <a:endParaRPr lang="en-US" dirty="0"/>
          </a:p>
          <a:p>
            <a:pPr>
              <a:lnSpc>
                <a:spcPct val="100000"/>
              </a:lnSpc>
              <a:spcBef>
                <a:spcPts val="400"/>
              </a:spcBef>
              <a:defRPr sz="1700"/>
            </a:pPr>
            <a:endParaRPr lang="en-US" dirty="0"/>
          </a:p>
          <a:p>
            <a:pPr>
              <a:lnSpc>
                <a:spcPct val="100000"/>
              </a:lnSpc>
              <a:spcBef>
                <a:spcPts val="400"/>
              </a:spcBef>
              <a:defRPr sz="1700"/>
            </a:pPr>
            <a:endParaRPr dirty="0"/>
          </a:p>
          <a:p>
            <a:pPr>
              <a:lnSpc>
                <a:spcPct val="100000"/>
              </a:lnSpc>
              <a:spcBef>
                <a:spcPts val="400"/>
              </a:spcBef>
              <a:defRPr sz="1700"/>
            </a:pPr>
            <a:r>
              <a:rPr dirty="0"/>
              <a:t>The two detector branches run in parallel and are evaluated independently on the same folds</a:t>
            </a:r>
          </a:p>
          <a:p>
            <a:pPr>
              <a:lnSpc>
                <a:spcPct val="100000"/>
              </a:lnSpc>
              <a:spcBef>
                <a:spcPts val="400"/>
              </a:spcBef>
              <a:defRPr sz="1700"/>
            </a:pPr>
            <a:r>
              <a:rPr dirty="0"/>
              <a:t>YOLO26-style (custom, ~2.66M params)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defRPr sz="1500"/>
            </a:pPr>
            <a:r>
              <a:rPr dirty="0"/>
              <a:t>C3k2 backbone blocks, SPPF, C2PSA, PAN / FPN neck, dual one-to-many / one-to-one heads</a:t>
            </a:r>
          </a:p>
          <a:p>
            <a:pPr>
              <a:lnSpc>
                <a:spcPct val="100000"/>
              </a:lnSpc>
              <a:spcBef>
                <a:spcPts val="400"/>
              </a:spcBef>
              <a:defRPr sz="1700"/>
            </a:pPr>
            <a:r>
              <a:rPr dirty="0"/>
              <a:t>Faster R-CNN (custom, ~28.86M params)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defRPr sz="1500"/>
            </a:pPr>
            <a:r>
              <a:rPr dirty="0" err="1"/>
              <a:t>ResNet</a:t>
            </a:r>
            <a:r>
              <a:rPr dirty="0"/>
              <a:t>-style backbone, P3–P6 FPN, RPN, </a:t>
            </a:r>
            <a:r>
              <a:rPr dirty="0" err="1"/>
              <a:t>RoI</a:t>
            </a:r>
            <a:r>
              <a:rPr dirty="0"/>
              <a:t> Align, detection head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4AD866-F5F1-69AB-C76E-27E9DC457E83}"/>
              </a:ext>
            </a:extLst>
          </p:cNvPr>
          <p:cNvSpPr/>
          <p:nvPr/>
        </p:nvSpPr>
        <p:spPr>
          <a:xfrm>
            <a:off x="1081863" y="2958792"/>
            <a:ext cx="1265272" cy="65193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images and labels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D6CA4C-A461-3442-41C5-8D7BCBA86F12}"/>
              </a:ext>
            </a:extLst>
          </p:cNvPr>
          <p:cNvSpPr/>
          <p:nvPr/>
        </p:nvSpPr>
        <p:spPr>
          <a:xfrm>
            <a:off x="3270938" y="2972230"/>
            <a:ext cx="1265272" cy="65193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Dataset Audit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F92A4E-3B26-5A88-2A3A-A4C4A2D0C34D}"/>
              </a:ext>
            </a:extLst>
          </p:cNvPr>
          <p:cNvSpPr/>
          <p:nvPr/>
        </p:nvSpPr>
        <p:spPr>
          <a:xfrm>
            <a:off x="5463364" y="1994329"/>
            <a:ext cx="1265272" cy="65193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Baseline (RGB)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856209-FCE2-FCD1-ED3E-D3F683AC36E1}"/>
              </a:ext>
            </a:extLst>
          </p:cNvPr>
          <p:cNvSpPr/>
          <p:nvPr/>
        </p:nvSpPr>
        <p:spPr>
          <a:xfrm>
            <a:off x="5463364" y="2972230"/>
            <a:ext cx="1265272" cy="65193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LAB + CLAHE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9C056C-69DF-FF90-7A71-D1DEE3822908}"/>
              </a:ext>
            </a:extLst>
          </p:cNvPr>
          <p:cNvSpPr/>
          <p:nvPr/>
        </p:nvSpPr>
        <p:spPr>
          <a:xfrm>
            <a:off x="5463364" y="3950131"/>
            <a:ext cx="1265272" cy="65193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LAB + CLAHE + Canny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C4E329D-1FB8-D78B-4347-D7511618F2D5}"/>
              </a:ext>
            </a:extLst>
          </p:cNvPr>
          <p:cNvSpPr/>
          <p:nvPr/>
        </p:nvSpPr>
        <p:spPr>
          <a:xfrm>
            <a:off x="7652439" y="2454189"/>
            <a:ext cx="1265272" cy="65193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YOLO26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09A420-AE24-EE57-0951-45FA2741BFD2}"/>
              </a:ext>
            </a:extLst>
          </p:cNvPr>
          <p:cNvSpPr/>
          <p:nvPr/>
        </p:nvSpPr>
        <p:spPr>
          <a:xfrm>
            <a:off x="9841514" y="2958792"/>
            <a:ext cx="1265272" cy="65193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Loss, </a:t>
            </a:r>
            <a:r>
              <a:rPr lang="en-US" sz="1200" dirty="0" err="1">
                <a:solidFill>
                  <a:schemeClr val="tx1"/>
                </a:solidFill>
              </a:rPr>
              <a:t>mAP</a:t>
            </a:r>
            <a:r>
              <a:rPr lang="en-US" sz="1200" dirty="0">
                <a:solidFill>
                  <a:schemeClr val="tx1"/>
                </a:solidFill>
              </a:rPr>
              <a:t>, Precision, Recall,  per-class metrics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318717F-0B08-4496-FCE3-2CBA7418D695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2347135" y="3284759"/>
            <a:ext cx="923803" cy="134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3887FAB-827A-4C77-5A08-396209EEF70B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4536210" y="2320296"/>
            <a:ext cx="927154" cy="9711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5FAE52A-9801-9CCB-5B54-513D5F968AA7}"/>
              </a:ext>
            </a:extLst>
          </p:cNvPr>
          <p:cNvCxnSpPr>
            <a:stCxn id="7" idx="3"/>
            <a:endCxn id="9" idx="1"/>
          </p:cNvCxnSpPr>
          <p:nvPr/>
        </p:nvCxnSpPr>
        <p:spPr>
          <a:xfrm>
            <a:off x="4536210" y="3298197"/>
            <a:ext cx="9271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3FED5A6-A331-6717-C6B6-9288DDF4572E}"/>
              </a:ext>
            </a:extLst>
          </p:cNvPr>
          <p:cNvCxnSpPr>
            <a:cxnSpLocks/>
            <a:stCxn id="7" idx="3"/>
            <a:endCxn id="10" idx="1"/>
          </p:cNvCxnSpPr>
          <p:nvPr/>
        </p:nvCxnSpPr>
        <p:spPr>
          <a:xfrm>
            <a:off x="4536210" y="3298197"/>
            <a:ext cx="927154" cy="9779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5E44DB8-AAC6-0C12-8C13-9B0A3BCA43E5}"/>
              </a:ext>
            </a:extLst>
          </p:cNvPr>
          <p:cNvCxnSpPr>
            <a:cxnSpLocks/>
            <a:stCxn id="8" idx="3"/>
            <a:endCxn id="11" idx="1"/>
          </p:cNvCxnSpPr>
          <p:nvPr/>
        </p:nvCxnSpPr>
        <p:spPr>
          <a:xfrm>
            <a:off x="6728636" y="2320296"/>
            <a:ext cx="923803" cy="4598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AE38D79-62B8-8FE6-BFFC-24B106170503}"/>
              </a:ext>
            </a:extLst>
          </p:cNvPr>
          <p:cNvCxnSpPr>
            <a:stCxn id="9" idx="3"/>
            <a:endCxn id="11" idx="1"/>
          </p:cNvCxnSpPr>
          <p:nvPr/>
        </p:nvCxnSpPr>
        <p:spPr>
          <a:xfrm flipV="1">
            <a:off x="6728636" y="2780156"/>
            <a:ext cx="923803" cy="5180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55B368C-DEFE-824F-BA19-A5AEC29EFC0C}"/>
              </a:ext>
            </a:extLst>
          </p:cNvPr>
          <p:cNvCxnSpPr>
            <a:cxnSpLocks/>
            <a:stCxn id="10" idx="3"/>
            <a:endCxn id="11" idx="1"/>
          </p:cNvCxnSpPr>
          <p:nvPr/>
        </p:nvCxnSpPr>
        <p:spPr>
          <a:xfrm flipV="1">
            <a:off x="6728636" y="2780156"/>
            <a:ext cx="923803" cy="14959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958FE02-FD82-DEA2-0736-BE26D468ED03}"/>
              </a:ext>
            </a:extLst>
          </p:cNvPr>
          <p:cNvCxnSpPr>
            <a:stCxn id="11" idx="3"/>
            <a:endCxn id="12" idx="1"/>
          </p:cNvCxnSpPr>
          <p:nvPr/>
        </p:nvCxnSpPr>
        <p:spPr>
          <a:xfrm>
            <a:off x="8917711" y="2780156"/>
            <a:ext cx="923803" cy="5046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24048062-4FEE-FEB5-95C2-0E8F15599BBF}"/>
              </a:ext>
            </a:extLst>
          </p:cNvPr>
          <p:cNvSpPr/>
          <p:nvPr/>
        </p:nvSpPr>
        <p:spPr>
          <a:xfrm>
            <a:off x="7655328" y="3443286"/>
            <a:ext cx="1265272" cy="651934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Faster R-CNN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D094B7ED-718F-DD97-349B-4C070EF531C0}"/>
              </a:ext>
            </a:extLst>
          </p:cNvPr>
          <p:cNvCxnSpPr>
            <a:cxnSpLocks/>
            <a:stCxn id="8" idx="3"/>
            <a:endCxn id="48" idx="1"/>
          </p:cNvCxnSpPr>
          <p:nvPr/>
        </p:nvCxnSpPr>
        <p:spPr>
          <a:xfrm>
            <a:off x="6728636" y="2320296"/>
            <a:ext cx="926692" cy="14489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714E048B-8875-15F6-13AA-B1D818606417}"/>
              </a:ext>
            </a:extLst>
          </p:cNvPr>
          <p:cNvCxnSpPr>
            <a:cxnSpLocks/>
            <a:stCxn id="9" idx="3"/>
            <a:endCxn id="48" idx="1"/>
          </p:cNvCxnSpPr>
          <p:nvPr/>
        </p:nvCxnSpPr>
        <p:spPr>
          <a:xfrm>
            <a:off x="6728636" y="3298197"/>
            <a:ext cx="926692" cy="4710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F8F88A56-E2B9-457F-76F3-C3439FE164DF}"/>
              </a:ext>
            </a:extLst>
          </p:cNvPr>
          <p:cNvCxnSpPr>
            <a:cxnSpLocks/>
            <a:endCxn id="48" idx="1"/>
          </p:cNvCxnSpPr>
          <p:nvPr/>
        </p:nvCxnSpPr>
        <p:spPr>
          <a:xfrm flipV="1">
            <a:off x="6725747" y="3769253"/>
            <a:ext cx="929581" cy="4934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05F92AFF-8722-C625-63B3-30D0D7DDD2F3}"/>
              </a:ext>
            </a:extLst>
          </p:cNvPr>
          <p:cNvCxnSpPr>
            <a:cxnSpLocks/>
            <a:stCxn id="48" idx="3"/>
            <a:endCxn id="12" idx="1"/>
          </p:cNvCxnSpPr>
          <p:nvPr/>
        </p:nvCxnSpPr>
        <p:spPr>
          <a:xfrm flipV="1">
            <a:off x="8920600" y="3284759"/>
            <a:ext cx="920914" cy="4844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Methodology: Reproducibility and Evaluation Design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1322816"/>
              </p:ext>
            </p:extLst>
          </p:nvPr>
        </p:nvGraphicFramePr>
        <p:xfrm>
          <a:off x="838200" y="1825625"/>
          <a:ext cx="10515600" cy="3394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4255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rPr sz="1600" dirty="0"/>
                        <a:t>Setting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rPr sz="1600"/>
                        <a:t>Value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255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600" dirty="0"/>
                        <a:t>Seed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600"/>
                        <a:t>42, fixed across all runs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255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600"/>
                        <a:t>Cross-validation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600" dirty="0"/>
                        <a:t>3 grouped folds (source / perceptual groups)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255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600"/>
                        <a:t>Input resolution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600" dirty="0"/>
                        <a:t>960 </a:t>
                      </a:r>
                      <a:r>
                        <a:rPr sz="1600" dirty="0" err="1"/>
                        <a:t>px</a:t>
                      </a:r>
                      <a:endParaRPr sz="1600" dirty="0"/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4255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600"/>
                        <a:t>Operating threshold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600" dirty="0"/>
                        <a:t>0.25 confidence for precision / recall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4255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600"/>
                        <a:t>Ranked metrics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600" dirty="0"/>
                        <a:t>mAP50 and mAP50-95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4255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600"/>
                        <a:t>Confusion matrix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600" dirty="0"/>
                        <a:t>Project metric implementation, background-aware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4258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600"/>
                        <a:t>Test protocol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600" dirty="0"/>
                        <a:t>No public candidate test used for optimization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38200" y="5346668"/>
            <a:ext cx="10515600" cy="830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95959"/>
                </a:solidFill>
              </a:defRPr>
            </a:pPr>
            <a:r>
              <a:rPr dirty="0"/>
              <a:t>best.pt was selected by validation mAP50; validation loss remained the controller signal, which aligned checkpoint choice with the reported detection metric.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What Changed, and Why: Decision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lnSpc>
                <a:spcPct val="100000"/>
              </a:lnSpc>
              <a:spcBef>
                <a:spcPts val="400"/>
              </a:spcBef>
              <a:defRPr sz="1700"/>
            </a:pPr>
            <a:r>
              <a:t>Custom YOLO26 — mAP50 path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defRPr sz="1500"/>
            </a:pPr>
            <a:r>
              <a:t>0.0615 (fixed focal / pos-weight, grouped-CV baseline) → 0.0782 (960px resolution) → 0.1127 (class-aware NMS) → 0.1270 (one-to-many inference branch) → 0.1586 (mAP50 checkpoint selection)</a:t>
            </a:r>
          </a:p>
          <a:p>
            <a:pPr>
              <a:lnSpc>
                <a:spcPct val="100000"/>
              </a:lnSpc>
              <a:spcBef>
                <a:spcPts val="400"/>
              </a:spcBef>
              <a:defRPr sz="1700"/>
            </a:pPr>
            <a:r>
              <a:t>Custom Faster R-CNN — mAP50 path</a:t>
            </a:r>
          </a:p>
          <a:p>
            <a:pPr lvl="1">
              <a:lnSpc>
                <a:spcPct val="100000"/>
              </a:lnSpc>
              <a:spcBef>
                <a:spcPts val="400"/>
              </a:spcBef>
              <a:defRPr sz="1500"/>
            </a:pPr>
            <a:r>
              <a:t>0.0075 (pre-repair diagnostic, not a valid benchmark) → 0.0935 (RPN positive-supervision repair) → 0.3191 (mAP50 checkpoint selection) → 0.3258 (warmup / cosine schedule)</a:t>
            </a:r>
          </a:p>
          <a:p>
            <a:pPr>
              <a:lnSpc>
                <a:spcPct val="100000"/>
              </a:lnSpc>
              <a:spcBef>
                <a:spcPts val="400"/>
              </a:spcBef>
              <a:defRPr sz="1700"/>
            </a:pPr>
            <a:r>
              <a:t>The RPN repair was a correctness fix, not ordinary tuning — it recovered a broken training signal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Systematic, Not Random: Accepted vs. Rejected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38200" y="1825625"/>
          <a:ext cx="10515600" cy="3394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9404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Treatment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YOLO26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t>Faster R-CNN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404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One-to-many inference + NMS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Accepted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N/A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404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mAP50 checkpoint selection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Accepted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Accepted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9404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Warmup / cosine schedule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Rejected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Retained cautiously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404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P2 small-object path + controller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Rejected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Rejected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404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DFL box regression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Rejected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N/A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404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ImageNet transfer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N/A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Rejected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9404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Horizontal-flip TTA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Rejected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Rejected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9404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EMA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Rejected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Rejected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9407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Online photometric augmentation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Mixed / not adopted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Rejected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38200" y="5346668"/>
            <a:ext cx="10515600" cy="830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95959"/>
                </a:solidFill>
              </a:defRPr>
            </a:pPr>
            <a:r>
              <a:t>Full decision record: PROJECT_WORK_LOG.md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Headline Results: Final Scratch-Model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4543052"/>
              </p:ext>
            </p:extLst>
          </p:nvPr>
        </p:nvGraphicFramePr>
        <p:xfrm>
          <a:off x="838200" y="1825625"/>
          <a:ext cx="10597600" cy="3394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31347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rPr sz="1800" dirty="0"/>
                        <a:t>Model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rPr sz="1800"/>
                        <a:t>mAP50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rPr sz="1800"/>
                        <a:t>mAP50-95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rPr sz="1800"/>
                        <a:t>Precision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rPr sz="1800"/>
                        <a:t>Recall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1347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800"/>
                        <a:t>Custom YOLO26 (fixed LR, raw weights)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800" dirty="0"/>
                        <a:t>0.1586 ± 0.0104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800" dirty="0"/>
                        <a:t>0.0512 ± 0.0043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800"/>
                        <a:t>0.1106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800"/>
                        <a:t>0.1306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1349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800"/>
                        <a:t>Custom Faster R-CNN (cosine schedule, raw weights)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800"/>
                        <a:t>0.3258 ± 0.0275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800" dirty="0"/>
                        <a:t>0.1239 ± 0.0111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800" dirty="0"/>
                        <a:t>0.2960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800" dirty="0"/>
                        <a:t>0.1146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38200" y="5346668"/>
            <a:ext cx="10515600" cy="830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95959"/>
                </a:solidFill>
              </a:defRPr>
            </a:pPr>
            <a:r>
              <a:t>Faster R-CNN was the strongest custom scratch detector by ranked AP. YOLO26 remained the lighter, faster one-stage architecture. These are validation-selected, grouped-CV estimates — not independent final test scores.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Each Model Wins and Fails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9669946"/>
              </p:ext>
            </p:extLst>
          </p:nvPr>
        </p:nvGraphicFramePr>
        <p:xfrm>
          <a:off x="838200" y="1825625"/>
          <a:ext cx="10515600" cy="3394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5673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rPr sz="1600" dirty="0"/>
                        <a:t>Category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rPr sz="1600"/>
                        <a:t>Custom YOLO26 (AP50)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rPr sz="1600"/>
                        <a:t>Custom Faster R-CNN (AP50)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673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600"/>
                        <a:t>Spaghetti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600" dirty="0"/>
                        <a:t>0.0379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600"/>
                        <a:t>0.0429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673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600"/>
                        <a:t>Layer Cracking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600" dirty="0"/>
                        <a:t>0.0678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600" dirty="0"/>
                        <a:t>0.2507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673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600"/>
                        <a:t>Over Extrusion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600"/>
                        <a:t>0.2740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600" dirty="0"/>
                        <a:t>0.5468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673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600"/>
                        <a:t>Stringing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600"/>
                        <a:t>0.0535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600" dirty="0"/>
                        <a:t>0.2438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5678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600"/>
                        <a:t>Warping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600"/>
                        <a:t>0.3596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600" dirty="0"/>
                        <a:t>0.5446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38200" y="5346668"/>
            <a:ext cx="105156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95959"/>
                </a:solidFill>
              </a:defRPr>
            </a:pPr>
            <a:r>
              <a:rPr dirty="0"/>
              <a:t>Both systems struggle with diffuse Spaghetti. Faster R-CNN is substantially better on Layer Cracking, Over Extrusion, Stringing, and Warping.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Practical Context: Scratch vs. Pretrained References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6178142"/>
              </p:ext>
            </p:extLst>
          </p:nvPr>
        </p:nvGraphicFramePr>
        <p:xfrm>
          <a:off x="838200" y="1825625"/>
          <a:ext cx="10515600" cy="3394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7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8808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rPr sz="1600" dirty="0"/>
                        <a:t>Model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rPr sz="1600"/>
                        <a:t>mAP50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rPr sz="1600"/>
                        <a:t>mAP50-95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8808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600"/>
                        <a:t>Custom YOLO26 (scratch)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600" dirty="0"/>
                        <a:t>0.1586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600"/>
                        <a:t>0.0512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808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600"/>
                        <a:t>Custom Faster R-CNN (scratch)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600" dirty="0"/>
                        <a:t>0.3258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600"/>
                        <a:t>0.1239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8808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600"/>
                        <a:t>Official YOLO26n (COCO-pretrained)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600"/>
                        <a:t>0.4592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600" dirty="0"/>
                        <a:t>0.1942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8811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600"/>
                        <a:t>Official YOLO11n (COCO-pretrained)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600"/>
                        <a:t>0.4799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600" dirty="0"/>
                        <a:t>0.1979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38200" y="5346668"/>
            <a:ext cx="10515600" cy="830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95959"/>
                </a:solidFill>
              </a:defRPr>
            </a:pPr>
            <a:r>
              <a:t>The pretrained systems are practical references, not architecture-only comparisons — they differ in pretraining, loss implementation, augmentation, preprocessing, optimizer behavior, and NMS.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Live Walkthrough: Virtual Demonstration</a:t>
            </a:r>
          </a:p>
        </p:txBody>
      </p:sp>
      <p:pic>
        <p:nvPicPr>
          <p:cNvPr id="6" name="Live demo preview">
            <a:extLst>
              <a:ext uri="{FF2B5EF4-FFF2-40B4-BE49-F238E27FC236}">
                <a16:creationId xmlns:a16="http://schemas.microsoft.com/office/drawing/2014/main" id="{00EB2C58-D0EA-80B3-F3D5-3DB534E286EC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90755" y="1825625"/>
            <a:ext cx="7010489" cy="4351338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D4D753-D9F9-6C27-F480-D30976941F62}"/>
              </a:ext>
            </a:extLst>
          </p:cNvPr>
          <p:cNvSpPr txBox="1"/>
          <p:nvPr/>
        </p:nvSpPr>
        <p:spPr>
          <a:xfrm>
            <a:off x="1977521" y="6420761"/>
            <a:ext cx="8236957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404040"/>
                </a:solidFill>
              </a:rPr>
              <a:t>Recorded walkthrough preview - full video is kept outside the repository copy.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Wrapping Up: Limitations, Conclusion, and Future Work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3839927"/>
              </p:ext>
            </p:extLst>
          </p:nvPr>
        </p:nvGraphicFramePr>
        <p:xfrm>
          <a:off x="845820" y="1628468"/>
          <a:ext cx="10515600" cy="3601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8808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rPr sz="1600" dirty="0"/>
                        <a:t>What Was Achieved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rPr sz="1600"/>
                        <a:t>Limitations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rPr sz="1600"/>
                        <a:t>Future Work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8808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600"/>
                        <a:t>Two custom detector pipelines built end-to-end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600"/>
                        <a:t>Sparse minority classes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600"/>
                        <a:t>Acquire more independent source groups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8808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600"/>
                        <a:t>Image processing, label normalization, strict validation, grouped CV, NMS, and metrics implemented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600"/>
                        <a:t>Diffuse / ambiguous defect boxes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600"/>
                        <a:t>Adjudicate annotations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8808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600"/>
                        <a:t>Best scratch configurations identified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600"/>
                        <a:t>Duplicate content / annotation disagreement in original export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600"/>
                        <a:t>Reserve a clean, group-disjoint external test set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8811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600"/>
                        <a:t>Practical pretrained reference built for demonstration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600"/>
                        <a:t>Validation folds reused for checkpoint / model decisions; no clean external held-out test claim</a:t>
                      </a:r>
                    </a:p>
                  </a:txBody>
                  <a:tcPr marL="50800" marR="50800" marT="25400" marB="25400"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rPr sz="1600" dirty="0"/>
                        <a:t>Pretrain the exact custom architectures before fine-tuning, if the goal shifts to practical performance</a:t>
                      </a:r>
                    </a:p>
                  </a:txBody>
                  <a:tcPr marL="50800" marR="50800" marT="25400" marB="254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38200" y="5346668"/>
            <a:ext cx="10515600" cy="830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95959"/>
                </a:solidFill>
              </a:defRPr>
            </a:pPr>
            <a:r>
              <a:t>The main result is a reproducible, evidence-driven detector study that distinguishes implementation fixes, valid improvements, negative results, and the practical value of large-scale pretraining.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>
            <a:normAutofit fontScale="92500" lnSpcReduction="10000"/>
          </a:bodyPr>
          <a:lstStyle/>
          <a:p>
            <a:r>
              <a:rPr lang="en-US" dirty="0"/>
              <a:t>Hidayatullah, P., &amp; Tubagus, R. (2026). </a:t>
            </a:r>
            <a:r>
              <a:rPr lang="en-US" i="1" dirty="0"/>
              <a:t>YOLO26: A Comprehensive Architecture Overview and Key Improvements</a:t>
            </a:r>
            <a:r>
              <a:rPr lang="en-US" dirty="0"/>
              <a:t>. arXiv:2602.14582. </a:t>
            </a:r>
            <a:r>
              <a:rPr lang="en-US" dirty="0">
                <a:hlinkClick r:id="rId3"/>
              </a:rPr>
              <a:t>https://arxiv.org/abs/2602.14582</a:t>
            </a:r>
            <a:endParaRPr lang="en-US" dirty="0"/>
          </a:p>
          <a:p>
            <a:r>
              <a:rPr lang="en-US" dirty="0"/>
              <a:t>Ren, S., He, K., </a:t>
            </a:r>
            <a:r>
              <a:rPr lang="en-US" dirty="0" err="1"/>
              <a:t>Girshick</a:t>
            </a:r>
            <a:r>
              <a:rPr lang="en-US" dirty="0"/>
              <a:t>, R., &amp; Sun, J. (2015). </a:t>
            </a:r>
            <a:r>
              <a:rPr lang="en-US" i="1" dirty="0"/>
              <a:t>Faster R-CNN: Towards Real-Time Object Detection with Region Proposal Networks</a:t>
            </a:r>
            <a:r>
              <a:rPr lang="en-US" dirty="0"/>
              <a:t>. arXiv:1506.01497. </a:t>
            </a:r>
            <a:r>
              <a:rPr lang="en-US" dirty="0">
                <a:hlinkClick r:id="rId4"/>
              </a:rPr>
              <a:t>https://arxiv.org/abs/1506.01497</a:t>
            </a:r>
            <a:endParaRPr lang="en-US" dirty="0"/>
          </a:p>
          <a:p>
            <a:r>
              <a:rPr lang="en-US" dirty="0"/>
              <a:t>Mishra, A. (2021). </a:t>
            </a:r>
            <a:r>
              <a:rPr lang="en-US" i="1" dirty="0"/>
              <a:t>Contrast Limited Adaptive Histogram Equalization (CLAHE) Approach for Enhancement of the Microstructures of Friction Stir Welded Joints</a:t>
            </a:r>
            <a:r>
              <a:rPr lang="en-US" dirty="0"/>
              <a:t>. arXiv:2109.00886. </a:t>
            </a:r>
            <a:r>
              <a:rPr lang="en-US" dirty="0">
                <a:hlinkClick r:id="rId5"/>
              </a:rPr>
              <a:t>https://arxiv.org/abs/2109.00886</a:t>
            </a:r>
            <a:endParaRPr lang="en-US" dirty="0"/>
          </a:p>
          <a:p>
            <a:r>
              <a:rPr lang="en-US" dirty="0"/>
              <a:t>Mikes Workspace. (2026). </a:t>
            </a:r>
            <a:r>
              <a:rPr lang="en-US" i="1" dirty="0"/>
              <a:t>3d print fail</a:t>
            </a:r>
            <a:r>
              <a:rPr lang="en-US" dirty="0"/>
              <a:t> Object Detection Dataset (v1, 2026-03-18). </a:t>
            </a:r>
            <a:r>
              <a:rPr lang="en-US" dirty="0" err="1"/>
              <a:t>Roboflow</a:t>
            </a:r>
            <a:r>
              <a:rPr lang="en-US" dirty="0"/>
              <a:t> Universe. </a:t>
            </a:r>
            <a:r>
              <a:rPr lang="en-US" dirty="0">
                <a:hlinkClick r:id="rId6"/>
              </a:rPr>
              <a:t>https://universe.roboflow.com/mikes-workspace-oebho/3d-print-fail-7ipuj/dataset/1</a:t>
            </a:r>
            <a:r>
              <a:rPr lang="en-US" dirty="0"/>
              <a:t>. License: CC BY 4.0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SU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SU" id="{1D35991F-6FC0-4AD8-9A46-EA255A4ECB29}" vid="{1268500D-CCCA-4596-902C-F88F59C606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</TotalTime>
  <Words>1550</Words>
  <Application>Microsoft Office PowerPoint</Application>
  <PresentationFormat>Widescreen</PresentationFormat>
  <Paragraphs>210</Paragraphs>
  <Slides>15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Calibri</vt:lpstr>
      <vt:lpstr>Calibri Light</vt:lpstr>
      <vt:lpstr>WSU</vt:lpstr>
      <vt:lpstr>Automated Detection and Classification of 3D Printing Failures Using Image Processing and Deep Learning</vt:lpstr>
      <vt:lpstr>The Problem</vt:lpstr>
      <vt:lpstr>Literature and Design Rationale</vt:lpstr>
      <vt:lpstr>Data Auditing Changed the Protocol</vt:lpstr>
      <vt:lpstr>Image Processing</vt:lpstr>
      <vt:lpstr>System Design: Final Architecture</vt:lpstr>
      <vt:lpstr>Methodology: Reproducibility and Evaluation Design</vt:lpstr>
      <vt:lpstr>What Changed, and Why: Decision Timeline</vt:lpstr>
      <vt:lpstr>Systematic, Not Random: Accepted vs. Rejected</vt:lpstr>
      <vt:lpstr>Headline Results: Final Scratch-Model Scorecard</vt:lpstr>
      <vt:lpstr>Where Each Model Wins and Fails</vt:lpstr>
      <vt:lpstr>Practical Context: Scratch vs. Pretrained References</vt:lpstr>
      <vt:lpstr>Live Walkthrough: Virtual Demonstration</vt:lpstr>
      <vt:lpstr>Wrapping Up: Limitations, Conclusion, and Future Work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Presentation</dc:title>
  <dc:creator>Khang Duong</dc:creator>
  <cp:lastModifiedBy>Bảo Khang Đường Huỳnh</cp:lastModifiedBy>
  <cp:revision>30</cp:revision>
  <dcterms:modified xsi:type="dcterms:W3CDTF">2026-07-30T19:56:58Z</dcterms:modified>
</cp:coreProperties>
</file>