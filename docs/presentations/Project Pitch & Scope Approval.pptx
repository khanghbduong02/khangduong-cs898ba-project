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86311" autoAdjust="0"/>
  </p:normalViewPr>
  <p:slideViewPr>
    <p:cSldViewPr snapToGrid="0">
      <p:cViewPr varScale="1">
        <p:scale>
          <a:sx n="101" d="100"/>
          <a:sy n="101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154B3-CD69-486B-977D-97B594B84E2F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7949A-CD67-4D84-A229-1DC4FAFF94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74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18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3D printing jobs take several hours. If a failure occurs early and is not detected, the printer may continue wasting time and material. Spaghetti, stringing, and warping are several common failure types. Detecting these failures early could help a lot of people in reducing the wasted filament and printing time.</a:t>
            </a:r>
          </a:p>
          <a:p>
            <a:r>
              <a:rPr lang="en-US" dirty="0"/>
              <a:t>This project investigates whether image processing combined with deep learning can automatically detect these failures.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09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work shows that deep learning object detectors perform well for industrial defects, while image enhancement techniques may improve feature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73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is a one-stage detector that predicts bounding boxes and classes directly from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78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Faster R-CNN first proposes candidate regions and then classifies them, which often improves localization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investigate whether image preprocessing improves defect detection performance compared to using raw RGB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57949A-CD67-4D84-A229-1DC4FAFF94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58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2AFA-44D0-F744-8BDD-C2802771C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3487"/>
            <a:ext cx="9144000" cy="1006475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BA64A-8634-5140-B60F-09086C669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 descr="The logo for Wichita State University." title="Wichita State University Logo">
            <a:extLst>
              <a:ext uri="{FF2B5EF4-FFF2-40B4-BE49-F238E27FC236}">
                <a16:creationId xmlns:a16="http://schemas.microsoft.com/office/drawing/2014/main" id="{1ADE4355-A3B2-6449-9D1C-9F7D8F178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073" y="1192211"/>
            <a:ext cx="4189854" cy="96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9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AE9C-BCE1-134F-9AA5-36AC0166B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0039"/>
            <a:ext cx="8503920" cy="957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DADA-DA3F-374B-8A2B-B0B5F1A463F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7CC7-E80B-4E43-9A8C-58FE70FD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4E0B-3C62-485D-9E3D-5F162DAF8B8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C005-7FB8-3D4C-96BE-CD8E4D1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D0C98-1C77-A04F-96D7-2FB871DF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EB40-BF36-4D84-8938-11B14849C8D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33B1789B-D0E4-4F47-8C64-CCCFE5CB89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DA10-D4F1-1246-AC76-4E99217B7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1752"/>
            <a:ext cx="8503920" cy="9601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A247-7DFC-E446-938A-2CA021AE3ED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206B-3FC0-CE41-90B0-155B2B1C6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6D33-CD83-4040-BB1F-306A4D9B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4E0B-3C62-485D-9E3D-5F162DAF8B8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B5D88-544F-964C-84FC-05176212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67E06-089A-6846-8B48-B3A0F23D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EB40-BF36-4D84-8938-11B14849C8D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BC3239E5-4689-FA43-AAF6-CE4F83EE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0318-CC45-A342-AEE3-670F3638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57E59-4F7B-3B4C-B9E7-67DE80EDB61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Or Alternative Title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E7E8-47E7-104E-BF54-359C263C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94E0B-3C62-485D-9E3D-5F162DAF8B8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E16E-EEEB-F04D-B629-FBE01C97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47F99-D730-2641-86EF-84BCC74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EB40-BF36-4D84-8938-11B14849C8D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&quot;WSU&quot; logo for Wichita State University." title="WSU Logo">
            <a:extLst>
              <a:ext uri="{FF2B5EF4-FFF2-40B4-BE49-F238E27FC236}">
                <a16:creationId xmlns:a16="http://schemas.microsoft.com/office/drawing/2014/main" id="{0747E5A0-53E7-3649-A4F4-D53323CF50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2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E8205-8020-9E43-BDC9-8F0646FB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D0D22-4086-394C-A571-C6BB444D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091FC-EF27-E34B-B5FE-194D933C9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94E0B-3C62-485D-9E3D-5F162DAF8B8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1301-3F06-5A49-A699-BBCBCEEE5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BA5A-8069-9D49-A99F-3AD1783C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7EB40-BF36-4D84-8938-11B14849C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2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06.01497" TargetMode="External"/><Relationship Id="rId2" Type="http://schemas.openxmlformats.org/officeDocument/2006/relationships/hyperlink" Target="https://arxiv.org/abs/2602.1458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universe.roboflow.com/purvi-rathore-5amqh/3d-print-failure-detection-efvsh/dataset/4" TargetMode="External"/><Relationship Id="rId4" Type="http://schemas.openxmlformats.org/officeDocument/2006/relationships/hyperlink" Target="https://arxiv.org/abs/2109.008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4C18-DEC7-1BB5-AF1E-31178F8F1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5568"/>
            <a:ext cx="9144000" cy="1566864"/>
          </a:xfrm>
        </p:spPr>
        <p:txBody>
          <a:bodyPr>
            <a:noAutofit/>
          </a:bodyPr>
          <a:lstStyle/>
          <a:p>
            <a:r>
              <a:rPr lang="en-US" sz="3600" dirty="0"/>
              <a:t>Automated Detection and Classification of 3D Printing Failures Using Image Processing and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33B46-28EE-9CB8-23F4-A90876E37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83342"/>
            <a:ext cx="9144000" cy="908386"/>
          </a:xfrm>
        </p:spPr>
        <p:txBody>
          <a:bodyPr/>
          <a:lstStyle/>
          <a:p>
            <a:r>
              <a:rPr lang="en-US" dirty="0"/>
              <a:t>Khang Duong</a:t>
            </a:r>
          </a:p>
          <a:p>
            <a:r>
              <a:rPr lang="en-US" dirty="0"/>
              <a:t>CS 898BA</a:t>
            </a:r>
          </a:p>
        </p:txBody>
      </p:sp>
    </p:spTree>
    <p:extLst>
      <p:ext uri="{BB962C8B-B14F-4D97-AF65-F5344CB8AC3E}">
        <p14:creationId xmlns:p14="http://schemas.microsoft.com/office/powerpoint/2010/main" val="117439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4473-6F4A-FDC9-8FAC-148F7416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34FE8-1439-77BD-183B-C9D9107F4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Problem:</a:t>
            </a:r>
          </a:p>
          <a:p>
            <a:pPr lvl="1"/>
            <a:r>
              <a:rPr lang="en-US" dirty="0"/>
              <a:t>Failures may happen during long print jobs.</a:t>
            </a:r>
            <a:endParaRPr lang="en-US" u="sng" dirty="0"/>
          </a:p>
          <a:p>
            <a:pPr lvl="1"/>
            <a:r>
              <a:rPr lang="en-US" dirty="0"/>
              <a:t>3D printing failures waste time and materials.</a:t>
            </a:r>
          </a:p>
          <a:p>
            <a:pPr lvl="1"/>
            <a:r>
              <a:rPr lang="en-US" dirty="0"/>
              <a:t>Early failure detection can reduce wasted filament and printing time.</a:t>
            </a:r>
          </a:p>
          <a:p>
            <a:r>
              <a:rPr lang="en-US" b="1" dirty="0"/>
              <a:t>Common Failure Types:</a:t>
            </a:r>
          </a:p>
          <a:p>
            <a:pPr lvl="1"/>
            <a:r>
              <a:rPr lang="en-US" dirty="0"/>
              <a:t>Spaghetti</a:t>
            </a:r>
          </a:p>
          <a:p>
            <a:pPr lvl="1"/>
            <a:r>
              <a:rPr lang="en-US" dirty="0"/>
              <a:t>Stringing</a:t>
            </a:r>
          </a:p>
          <a:p>
            <a:pPr lvl="1"/>
            <a:r>
              <a:rPr lang="en-US" dirty="0"/>
              <a:t>Warping</a:t>
            </a:r>
          </a:p>
          <a:p>
            <a:r>
              <a:rPr lang="en-US" b="1" dirty="0"/>
              <a:t>Research Question: </a:t>
            </a:r>
            <a:r>
              <a:rPr lang="en-US" dirty="0"/>
              <a:t>Can image processing and deep learning improve automatic detection of 3D printing failures?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0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F74C-B982-C236-CAE2-C2EC80DE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5C3D2-4FA1-6579-5E68-EB676122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3425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Dataset Source:</a:t>
            </a:r>
          </a:p>
          <a:p>
            <a:pPr lvl="1"/>
            <a:r>
              <a:rPr lang="en-US" dirty="0" err="1"/>
              <a:t>Roboflow</a:t>
            </a:r>
            <a:r>
              <a:rPr lang="en-US" dirty="0"/>
              <a:t>: 3d print failure detection Computer Vision Model by Purvi Rathore</a:t>
            </a:r>
          </a:p>
          <a:p>
            <a:pPr lvl="1"/>
            <a:r>
              <a:rPr lang="en-US" dirty="0"/>
              <a:t>4549 images:</a:t>
            </a:r>
          </a:p>
          <a:p>
            <a:pPr lvl="2"/>
            <a:r>
              <a:rPr lang="en-US" dirty="0"/>
              <a:t>Train: 2696 images</a:t>
            </a:r>
          </a:p>
          <a:p>
            <a:pPr lvl="2"/>
            <a:r>
              <a:rPr lang="en-US" dirty="0"/>
              <a:t>Validation: 1524 images</a:t>
            </a:r>
          </a:p>
          <a:p>
            <a:pPr lvl="2"/>
            <a:r>
              <a:rPr lang="en-US" dirty="0"/>
              <a:t>Test 329 images</a:t>
            </a:r>
          </a:p>
          <a:p>
            <a:r>
              <a:rPr lang="en-US" b="1" dirty="0"/>
              <a:t>Classes:</a:t>
            </a:r>
          </a:p>
          <a:p>
            <a:pPr lvl="1"/>
            <a:r>
              <a:rPr lang="en-US" dirty="0"/>
              <a:t>Spaghetti</a:t>
            </a:r>
          </a:p>
          <a:p>
            <a:pPr lvl="1"/>
            <a:r>
              <a:rPr lang="en-US" dirty="0"/>
              <a:t>Stringing</a:t>
            </a:r>
          </a:p>
          <a:p>
            <a:pPr lvl="1"/>
            <a:r>
              <a:rPr lang="en-US" dirty="0"/>
              <a:t>Warping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B163D-D682-1EE6-B86C-B726816BD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53" y="1456735"/>
            <a:ext cx="2690968" cy="2292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9AB43C-9AF8-A7DD-842B-4DD4C2E4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326" y="1456735"/>
            <a:ext cx="3056408" cy="2292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8DCFEA-A0AE-8250-0627-B10AF5844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067" y="3948475"/>
            <a:ext cx="2292306" cy="229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3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03EC-2954-30A3-267C-9C2F97CC3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483918-F469-FCF5-A673-EB3F8AABA8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750111"/>
              </p:ext>
            </p:extLst>
          </p:nvPr>
        </p:nvGraphicFramePr>
        <p:xfrm>
          <a:off x="662940" y="1970668"/>
          <a:ext cx="10866120" cy="374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2040">
                  <a:extLst>
                    <a:ext uri="{9D8B030D-6E8A-4147-A177-3AD203B41FA5}">
                      <a16:colId xmlns:a16="http://schemas.microsoft.com/office/drawing/2014/main" val="2766832204"/>
                    </a:ext>
                  </a:extLst>
                </a:gridCol>
                <a:gridCol w="3622040">
                  <a:extLst>
                    <a:ext uri="{9D8B030D-6E8A-4147-A177-3AD203B41FA5}">
                      <a16:colId xmlns:a16="http://schemas.microsoft.com/office/drawing/2014/main" val="2848163669"/>
                    </a:ext>
                  </a:extLst>
                </a:gridCol>
                <a:gridCol w="3622040">
                  <a:extLst>
                    <a:ext uri="{9D8B030D-6E8A-4147-A177-3AD203B41FA5}">
                      <a16:colId xmlns:a16="http://schemas.microsoft.com/office/drawing/2014/main" val="678873744"/>
                    </a:ext>
                  </a:extLst>
                </a:gridCol>
              </a:tblGrid>
              <a:tr h="937266">
                <a:tc>
                  <a:txBody>
                    <a:bodyPr/>
                    <a:lstStyle/>
                    <a:p>
                      <a:r>
                        <a:rPr lang="en-US" sz="2400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965930"/>
                  </a:ext>
                </a:extLst>
              </a:tr>
              <a:tr h="937266">
                <a:tc>
                  <a:txBody>
                    <a:bodyPr/>
                    <a:lstStyle/>
                    <a:p>
                      <a:r>
                        <a:rPr lang="en-US" sz="2400" dirty="0"/>
                        <a:t>YOLO26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One-stage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556130"/>
                  </a:ext>
                </a:extLst>
              </a:tr>
              <a:tr h="937266">
                <a:tc>
                  <a:txBody>
                    <a:bodyPr/>
                    <a:lstStyle/>
                    <a:p>
                      <a:r>
                        <a:rPr lang="en-US" sz="2400" dirty="0"/>
                        <a:t>Faster R-CNN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Two-stage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69697"/>
                  </a:ext>
                </a:extLst>
              </a:tr>
              <a:tr h="937266">
                <a:tc>
                  <a:txBody>
                    <a:bodyPr/>
                    <a:lstStyle/>
                    <a:p>
                      <a:r>
                        <a:rPr lang="en-US" sz="2400" dirty="0"/>
                        <a:t>CLAHE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Image 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Contrast 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461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26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18A8-18C0-4413-0C7F-67084A40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Design 1 - YOLO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A9D13-8746-8D79-C103-7A2A6E5DA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77" y="1844543"/>
            <a:ext cx="11628646" cy="4351338"/>
          </a:xfrm>
        </p:spPr>
        <p:txBody>
          <a:bodyPr/>
          <a:lstStyle/>
          <a:p>
            <a:r>
              <a:rPr lang="en-US" dirty="0"/>
              <a:t>Input Image → Image Processing → YOLO → Bounding Box → Class Prediction</a:t>
            </a:r>
          </a:p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Fast</a:t>
            </a:r>
          </a:p>
          <a:p>
            <a:pPr lvl="1"/>
            <a:r>
              <a:rPr lang="en-US" dirty="0"/>
              <a:t>Real-time capable</a:t>
            </a:r>
          </a:p>
          <a:p>
            <a:pPr lvl="1"/>
            <a:r>
              <a:rPr lang="en-US" dirty="0"/>
              <a:t>High </a:t>
            </a:r>
            <a:r>
              <a:rPr lang="en-US" dirty="0" err="1"/>
              <a:t>mAP</a:t>
            </a:r>
            <a:endParaRPr lang="en-US" dirty="0"/>
          </a:p>
          <a:p>
            <a:pPr lvl="1"/>
            <a:r>
              <a:rPr lang="en-US" dirty="0"/>
              <a:t>Easy deployment</a:t>
            </a:r>
          </a:p>
          <a:p>
            <a:r>
              <a:rPr lang="en-US" b="1" dirty="0"/>
              <a:t>Disadvantages:</a:t>
            </a:r>
          </a:p>
          <a:p>
            <a:pPr lvl="1"/>
            <a:r>
              <a:rPr lang="en-US" dirty="0"/>
              <a:t>May struggle with small defects</a:t>
            </a:r>
          </a:p>
          <a:p>
            <a:pPr lvl="1"/>
            <a:r>
              <a:rPr lang="en-US" dirty="0"/>
              <a:t>Lower localization precision</a:t>
            </a:r>
          </a:p>
          <a:p>
            <a:pPr lvl="1"/>
            <a:r>
              <a:rPr lang="en-US" dirty="0"/>
              <a:t>Sensitive to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5987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788A-CC82-CE08-F782-EA13BCD1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 Design 2 – Faster R-CNN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A8CF6-A579-B03F-6320-9137F2475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83" y="1686888"/>
            <a:ext cx="1161603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Input Image → Image Processing → CNN Backbone → Region Proposal Network (RPN) → ROI Pooling → Classification + Bounding Box Regression</a:t>
            </a:r>
          </a:p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High localization accuracy.</a:t>
            </a:r>
          </a:p>
          <a:p>
            <a:pPr lvl="1"/>
            <a:r>
              <a:rPr lang="en-US" dirty="0"/>
              <a:t>Strong performance on small and difficult objects.</a:t>
            </a:r>
          </a:p>
          <a:p>
            <a:pPr lvl="1"/>
            <a:r>
              <a:rPr lang="en-US" dirty="0"/>
              <a:t>Precise bounding boxes.</a:t>
            </a:r>
          </a:p>
          <a:p>
            <a:pPr lvl="1"/>
            <a:r>
              <a:rPr lang="en-US" dirty="0"/>
              <a:t>Widely used benchmark architecture.</a:t>
            </a:r>
          </a:p>
          <a:p>
            <a:r>
              <a:rPr lang="en-US" b="1" dirty="0"/>
              <a:t>Disadvantages:</a:t>
            </a:r>
          </a:p>
          <a:p>
            <a:pPr lvl="1"/>
            <a:r>
              <a:rPr lang="en-US" dirty="0"/>
              <a:t>Slower inference</a:t>
            </a:r>
          </a:p>
          <a:p>
            <a:pPr lvl="1"/>
            <a:r>
              <a:rPr lang="en-US" dirty="0"/>
              <a:t>Higher computational cost</a:t>
            </a:r>
          </a:p>
          <a:p>
            <a:pPr lvl="1"/>
            <a:r>
              <a:rPr lang="en-US" dirty="0"/>
              <a:t>More complex architecture</a:t>
            </a:r>
          </a:p>
        </p:txBody>
      </p:sp>
    </p:spTree>
    <p:extLst>
      <p:ext uri="{BB962C8B-B14F-4D97-AF65-F5344CB8AC3E}">
        <p14:creationId xmlns:p14="http://schemas.microsoft.com/office/powerpoint/2010/main" val="75059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38F2-C5E9-2F15-05B5-A8CFC277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Image 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6098E-A539-8044-D467-1690EE983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Baseline: </a:t>
            </a:r>
            <a:r>
              <a:rPr lang="en-US" dirty="0"/>
              <a:t>RGB → Model</a:t>
            </a:r>
          </a:p>
          <a:p>
            <a:r>
              <a:rPr lang="en-US" b="1" dirty="0"/>
              <a:t>Method 1:</a:t>
            </a:r>
            <a:r>
              <a:rPr lang="en-US" dirty="0"/>
              <a:t> RGB → LAB → CLAHE → Model</a:t>
            </a:r>
          </a:p>
          <a:p>
            <a:r>
              <a:rPr lang="en-US" b="1" dirty="0"/>
              <a:t>Method 2: </a:t>
            </a:r>
            <a:r>
              <a:rPr lang="en-US" dirty="0"/>
              <a:t>RGB → LAB → CLAHE → Canny Edge Detection → Model</a:t>
            </a:r>
          </a:p>
        </p:txBody>
      </p:sp>
    </p:spTree>
    <p:extLst>
      <p:ext uri="{BB962C8B-B14F-4D97-AF65-F5344CB8AC3E}">
        <p14:creationId xmlns:p14="http://schemas.microsoft.com/office/powerpoint/2010/main" val="346339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AE27-11C4-CEAD-7EEE-004C0119D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Justification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6FAB0-7377-8ED0-BA87-0FF8E360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Model Selection:</a:t>
            </a:r>
          </a:p>
          <a:p>
            <a:pPr lvl="1"/>
            <a:r>
              <a:rPr lang="en-US" dirty="0"/>
              <a:t>YOLO (Primary Model): Fast inference, Suitable for real-time 3D printing monitoring, Efficient for deployment</a:t>
            </a:r>
          </a:p>
          <a:p>
            <a:pPr lvl="1"/>
            <a:r>
              <a:rPr lang="en-US" dirty="0"/>
              <a:t>Faster R-CNN (Comparison Model): Higher localization accuracy, Better performance on small defects, Slower inference speed</a:t>
            </a:r>
          </a:p>
          <a:p>
            <a:r>
              <a:rPr lang="en-US" b="1" dirty="0"/>
              <a:t>Evaluation Metrics:</a:t>
            </a:r>
          </a:p>
          <a:p>
            <a:pPr lvl="1"/>
            <a:r>
              <a:rPr lang="en-US" dirty="0"/>
              <a:t>mAP@50 (primary detection accuracy) </a:t>
            </a:r>
          </a:p>
          <a:p>
            <a:pPr lvl="1"/>
            <a:r>
              <a:rPr lang="en-US" dirty="0"/>
              <a:t>mAP@50–95 (strict evaluation) </a:t>
            </a:r>
          </a:p>
          <a:p>
            <a:pPr lvl="1"/>
            <a:r>
              <a:rPr lang="en-US" dirty="0"/>
              <a:t>Precision (reduce false positives) </a:t>
            </a:r>
          </a:p>
          <a:p>
            <a:pPr lvl="1"/>
            <a:r>
              <a:rPr lang="en-US" dirty="0"/>
              <a:t>Recall (reduce missed failures) </a:t>
            </a:r>
          </a:p>
          <a:p>
            <a:pPr lvl="1"/>
            <a:r>
              <a:rPr lang="en-US" dirty="0" err="1"/>
              <a:t>IoU</a:t>
            </a:r>
            <a:r>
              <a:rPr lang="en-US" dirty="0"/>
              <a:t> (bounding box accuracy)</a:t>
            </a:r>
          </a:p>
        </p:txBody>
      </p:sp>
    </p:spTree>
    <p:extLst>
      <p:ext uri="{BB962C8B-B14F-4D97-AF65-F5344CB8AC3E}">
        <p14:creationId xmlns:p14="http://schemas.microsoft.com/office/powerpoint/2010/main" val="1482993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7B53-6E10-6E2D-52DB-7AC3ED84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1743D-F11B-81C8-A8D0-4CE9B20DA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826"/>
            <a:ext cx="10515600" cy="47013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Hidayatullah, P., &amp; Tubagus, R. (2026). </a:t>
            </a:r>
            <a:r>
              <a:rPr lang="en-US" i="1" dirty="0"/>
              <a:t>YOLO26: A Comprehensive Architecture Overview and Key Improvements</a:t>
            </a:r>
            <a:r>
              <a:rPr lang="en-US" dirty="0"/>
              <a:t>. arXiv:2602.14582. </a:t>
            </a:r>
            <a:r>
              <a:rPr lang="en-US" dirty="0">
                <a:hlinkClick r:id="rId2"/>
              </a:rPr>
              <a:t>https://arxiv.org/abs/2602.14582</a:t>
            </a:r>
            <a:endParaRPr lang="en-US" dirty="0"/>
          </a:p>
          <a:p>
            <a:r>
              <a:rPr lang="en-US" dirty="0"/>
              <a:t>Ren, S., He, K., </a:t>
            </a:r>
            <a:r>
              <a:rPr lang="en-US" dirty="0" err="1"/>
              <a:t>Girshick</a:t>
            </a:r>
            <a:r>
              <a:rPr lang="en-US" dirty="0"/>
              <a:t>, R., &amp; Sun, J. (2015). </a:t>
            </a:r>
            <a:r>
              <a:rPr lang="en-US" i="1" dirty="0"/>
              <a:t>Faster R-CNN: Towards Real-Time Object Detection with Region Proposal Networks</a:t>
            </a:r>
            <a:r>
              <a:rPr lang="en-US" dirty="0"/>
              <a:t>. arXiv:1506.01497. </a:t>
            </a:r>
            <a:r>
              <a:rPr lang="en-US" dirty="0">
                <a:hlinkClick r:id="rId3"/>
              </a:rPr>
              <a:t>https://arxiv.org/abs/1506.01497</a:t>
            </a:r>
            <a:endParaRPr lang="en-US" dirty="0"/>
          </a:p>
          <a:p>
            <a:r>
              <a:rPr lang="en-US" dirty="0"/>
              <a:t>Mishra, A. (2021). </a:t>
            </a:r>
            <a:r>
              <a:rPr lang="en-US" i="1" dirty="0"/>
              <a:t>Contrast Limited Adaptive Histogram Equalization (CLAHE) Approach for Enhancement of the Microstructures of Friction Stir Welded Joints</a:t>
            </a:r>
            <a:r>
              <a:rPr lang="en-US" dirty="0"/>
              <a:t>. arXiv:2109.00886. </a:t>
            </a:r>
            <a:r>
              <a:rPr lang="en-US" dirty="0">
                <a:hlinkClick r:id="rId4"/>
              </a:rPr>
              <a:t>https://arxiv.org/abs/2109.00886</a:t>
            </a:r>
            <a:endParaRPr lang="en-US" dirty="0"/>
          </a:p>
          <a:p>
            <a:r>
              <a:rPr lang="en-US" dirty="0"/>
              <a:t>Rathore, P. (2026). </a:t>
            </a:r>
            <a:r>
              <a:rPr lang="en-US" i="1" dirty="0"/>
              <a:t>3D Print Failure Detection – Object Detection Dataset</a:t>
            </a:r>
            <a:r>
              <a:rPr lang="en-US" dirty="0"/>
              <a:t>. </a:t>
            </a:r>
            <a:r>
              <a:rPr lang="en-US" dirty="0" err="1"/>
              <a:t>Roboflow</a:t>
            </a:r>
            <a:r>
              <a:rPr lang="en-US" dirty="0"/>
              <a:t> Universe.</a:t>
            </a:r>
            <a:br>
              <a:rPr lang="en-US" dirty="0"/>
            </a:br>
            <a:r>
              <a:rPr lang="en-US" dirty="0">
                <a:hlinkClick r:id="rId5"/>
              </a:rPr>
              <a:t>https://universe.roboflow.com/purvi-rathore-5amqh/3d-print-failure-detection-efvsh/dataset/4</a:t>
            </a:r>
            <a:br>
              <a:rPr lang="en-US" dirty="0"/>
            </a:br>
            <a:r>
              <a:rPr lang="en-US" dirty="0"/>
              <a:t>License: CC BY 4.0</a:t>
            </a:r>
          </a:p>
        </p:txBody>
      </p:sp>
    </p:spTree>
    <p:extLst>
      <p:ext uri="{BB962C8B-B14F-4D97-AF65-F5344CB8AC3E}">
        <p14:creationId xmlns:p14="http://schemas.microsoft.com/office/powerpoint/2010/main" val="4058771111"/>
      </p:ext>
    </p:extLst>
  </p:cSld>
  <p:clrMapOvr>
    <a:masterClrMapping/>
  </p:clrMapOvr>
</p:sld>
</file>

<file path=ppt/theme/theme1.xml><?xml version="1.0" encoding="utf-8"?>
<a:theme xmlns:a="http://schemas.openxmlformats.org/drawingml/2006/main" name="WS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U" id="{1D35991F-6FC0-4AD8-9A46-EA255A4ECB29}" vid="{1268500D-CCCA-4596-902C-F88F59C606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WSU</Template>
  <TotalTime>1318</TotalTime>
  <Words>664</Words>
  <Application>Microsoft Office PowerPoint</Application>
  <PresentationFormat>Widescreen</PresentationFormat>
  <Paragraphs>90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WSU</vt:lpstr>
      <vt:lpstr>Automated Detection and Classification of 3D Printing Failures Using Image Processing and Deep Learning</vt:lpstr>
      <vt:lpstr>Problem Statement</vt:lpstr>
      <vt:lpstr>Dataset</vt:lpstr>
      <vt:lpstr>Preliminary Literature Review</vt:lpstr>
      <vt:lpstr>Alternative Design 1 - YOLO</vt:lpstr>
      <vt:lpstr>Alternative Design 2 – Faster R-CNN</vt:lpstr>
      <vt:lpstr>Proposed Image Processing Pipeline</vt:lpstr>
      <vt:lpstr>Choice Justification and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Bảo Khang Đường Huỳnh</dc:creator>
  <cp:lastModifiedBy>Bảo Khang Đường Huỳnh</cp:lastModifiedBy>
  <cp:revision>14</cp:revision>
  <dcterms:created xsi:type="dcterms:W3CDTF">2026-06-20T05:29:33Z</dcterms:created>
  <dcterms:modified xsi:type="dcterms:W3CDTF">2026-06-21T03:28:15Z</dcterms:modified>
</cp:coreProperties>
</file>