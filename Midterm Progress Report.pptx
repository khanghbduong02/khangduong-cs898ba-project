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9" r:id="rId3"/>
    <p:sldId id="258" r:id="rId4"/>
    <p:sldId id="257" r:id="rId5"/>
    <p:sldId id="260" r:id="rId6"/>
    <p:sldId id="267" r:id="rId7"/>
    <p:sldId id="266" r:id="rId8"/>
    <p:sldId id="270" r:id="rId9"/>
    <p:sldId id="269" r:id="rId10"/>
    <p:sldId id="26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86311" autoAdjust="0"/>
  </p:normalViewPr>
  <p:slideViewPr>
    <p:cSldViewPr snapToGrid="0">
      <p:cViewPr varScale="1">
        <p:scale>
          <a:sx n="101" d="100"/>
          <a:sy n="101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154B3-CD69-486B-977D-97B594B84E2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7949A-CD67-4D84-A229-1DC4FAFF9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74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Can image processing and deep learning improve automatic detection of 3D printing failures?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18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work shows that deep learning object detectors perform well for industrial defects, while image enhancement techniques may improve feature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73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Warping is severely underrepresented, and stringing also has substantial annotation-format inconsistency.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95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09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is a one-stage detector that predicts bounding boxes and classes directly from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8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2AFA-44D0-F744-8BDD-C2802771C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487"/>
            <a:ext cx="9144000" cy="1006475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BA64A-8634-5140-B60F-09086C669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 descr="The logo for Wichita State University." title="Wichita State University Logo">
            <a:extLst>
              <a:ext uri="{FF2B5EF4-FFF2-40B4-BE49-F238E27FC236}">
                <a16:creationId xmlns:a16="http://schemas.microsoft.com/office/drawing/2014/main" id="{1ADE4355-A3B2-6449-9D1C-9F7D8F17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073" y="1192211"/>
            <a:ext cx="4189854" cy="96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9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AE9C-BCE1-134F-9AA5-36AC0166B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0039"/>
            <a:ext cx="8503920" cy="957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DADA-DA3F-374B-8A2B-B0B5F1A463F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7CC7-E80B-4E43-9A8C-58FE70FD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4E0B-3C62-485D-9E3D-5F162DAF8B8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C005-7FB8-3D4C-96BE-CD8E4D1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D0C98-1C77-A04F-96D7-2FB871DF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33B1789B-D0E4-4F47-8C64-CCCFE5CB89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DA10-D4F1-1246-AC76-4E99217B7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1752"/>
            <a:ext cx="8503920" cy="9601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A247-7DFC-E446-938A-2CA021AE3E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206B-3FC0-CE41-90B0-155B2B1C6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6D33-CD83-4040-BB1F-306A4D9B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4E0B-3C62-485D-9E3D-5F162DAF8B8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B5D88-544F-964C-84FC-05176212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7E06-089A-6846-8B48-B3A0F23D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BC3239E5-4689-FA43-AAF6-CE4F83EE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0318-CC45-A342-AEE3-670F3638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57E59-4F7B-3B4C-B9E7-67DE80EDB61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Or Alternative Title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E7E8-47E7-104E-BF54-359C263C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4E0B-3C62-485D-9E3D-5F162DAF8B8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E16E-EEEB-F04D-B629-FBE01C97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47F99-D730-2641-86EF-84BCC74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&quot;WSU&quot; logo for Wichita State University." title="WSU Logo">
            <a:extLst>
              <a:ext uri="{FF2B5EF4-FFF2-40B4-BE49-F238E27FC236}">
                <a16:creationId xmlns:a16="http://schemas.microsoft.com/office/drawing/2014/main" id="{0747E5A0-53E7-3649-A4F4-D53323CF50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2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8205-8020-9E43-BDC9-8F0646FB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0D22-4086-394C-A571-C6BB444D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091FC-EF27-E34B-B5FE-194D933C9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94E0B-3C62-485D-9E3D-5F162DAF8B8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1301-3F06-5A49-A699-BBCBCEEE5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BA5A-8069-9D49-A99F-3AD1783C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2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2.1458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verse.roboflow.com/purvi-rathore-5amqh/3d-print-failure-detection-efvsh/dataset/4" TargetMode="External"/><Relationship Id="rId5" Type="http://schemas.openxmlformats.org/officeDocument/2006/relationships/hyperlink" Target="https://arxiv.org/abs/2109.00886" TargetMode="External"/><Relationship Id="rId4" Type="http://schemas.openxmlformats.org/officeDocument/2006/relationships/hyperlink" Target="https://arxiv.org/abs/1506.014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4C18-DEC7-1BB5-AF1E-31178F8F1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5568"/>
            <a:ext cx="9144000" cy="1566864"/>
          </a:xfrm>
        </p:spPr>
        <p:txBody>
          <a:bodyPr>
            <a:noAutofit/>
          </a:bodyPr>
          <a:lstStyle/>
          <a:p>
            <a:r>
              <a:rPr lang="en-US" sz="3600" dirty="0"/>
              <a:t>Automated Detection and Classification of 3D Printing Failures Using Image Processing and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33B46-28EE-9CB8-23F4-A90876E37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83342"/>
            <a:ext cx="9144000" cy="908386"/>
          </a:xfrm>
        </p:spPr>
        <p:txBody>
          <a:bodyPr/>
          <a:lstStyle/>
          <a:p>
            <a:r>
              <a:rPr lang="en-US" dirty="0"/>
              <a:t>Khang Duong</a:t>
            </a:r>
          </a:p>
          <a:p>
            <a:r>
              <a:rPr lang="en-US" dirty="0"/>
              <a:t>CS 898BA</a:t>
            </a:r>
          </a:p>
        </p:txBody>
      </p:sp>
    </p:spTree>
    <p:extLst>
      <p:ext uri="{BB962C8B-B14F-4D97-AF65-F5344CB8AC3E}">
        <p14:creationId xmlns:p14="http://schemas.microsoft.com/office/powerpoint/2010/main" val="117439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03EC-2954-30A3-267C-9C2F97CC3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Condensed 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483918-F469-FCF5-A673-EB3F8AABA8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692963"/>
              </p:ext>
            </p:extLst>
          </p:nvPr>
        </p:nvGraphicFramePr>
        <p:xfrm>
          <a:off x="662940" y="1970668"/>
          <a:ext cx="10795438" cy="374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5923">
                  <a:extLst>
                    <a:ext uri="{9D8B030D-6E8A-4147-A177-3AD203B41FA5}">
                      <a16:colId xmlns:a16="http://schemas.microsoft.com/office/drawing/2014/main" val="2766832204"/>
                    </a:ext>
                  </a:extLst>
                </a:gridCol>
                <a:gridCol w="7939515">
                  <a:extLst>
                    <a:ext uri="{9D8B030D-6E8A-4147-A177-3AD203B41FA5}">
                      <a16:colId xmlns:a16="http://schemas.microsoft.com/office/drawing/2014/main" val="2848163669"/>
                    </a:ext>
                  </a:extLst>
                </a:gridCol>
              </a:tblGrid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Main idea used in my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965930"/>
                  </a:ext>
                </a:extLst>
              </a:tr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YOLO26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Efficient one-stage, end-to-end object detection architecture for fast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556130"/>
                  </a:ext>
                </a:extLst>
              </a:tr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Faster R-CNN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Two-stage alternative with potentially stronger localization but higher computational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69697"/>
                  </a:ext>
                </a:extLst>
              </a:tr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CLAHE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Local contrast enhancement can reveal weak visual structure and defects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461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26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F74C-B982-C236-CAE2-C2EC80DE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initial class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5C3D2-4FA1-6579-5E68-EB676122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74" y="1567070"/>
            <a:ext cx="10695852" cy="1661707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Roboflow</a:t>
            </a:r>
            <a:r>
              <a:rPr lang="en-US" dirty="0"/>
              <a:t>: 3d print failure detection Computer Vision Model by Purvi Rathore</a:t>
            </a:r>
          </a:p>
          <a:p>
            <a:r>
              <a:rPr lang="en-US" dirty="0"/>
              <a:t>4549 images:</a:t>
            </a:r>
          </a:p>
          <a:p>
            <a:pPr lvl="1"/>
            <a:r>
              <a:rPr lang="en-US" dirty="0"/>
              <a:t>Train: 2696 images</a:t>
            </a:r>
          </a:p>
          <a:p>
            <a:pPr lvl="1"/>
            <a:r>
              <a:rPr lang="en-US" dirty="0"/>
              <a:t>Validation: 1524 images</a:t>
            </a:r>
          </a:p>
          <a:p>
            <a:pPr lvl="1"/>
            <a:r>
              <a:rPr lang="en-US" dirty="0"/>
              <a:t>Test 329 images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3DF0B7-CE38-A10A-3DFD-A57E9BA08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840375"/>
              </p:ext>
            </p:extLst>
          </p:nvPr>
        </p:nvGraphicFramePr>
        <p:xfrm>
          <a:off x="748073" y="3228777"/>
          <a:ext cx="10695852" cy="2894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963">
                  <a:extLst>
                    <a:ext uri="{9D8B030D-6E8A-4147-A177-3AD203B41FA5}">
                      <a16:colId xmlns:a16="http://schemas.microsoft.com/office/drawing/2014/main" val="2411442208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3238891270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3229052614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4093803368"/>
                    </a:ext>
                  </a:extLst>
                </a:gridCol>
              </a:tblGrid>
              <a:tr h="716177">
                <a:tc>
                  <a:txBody>
                    <a:bodyPr/>
                    <a:lstStyle/>
                    <a:p>
                      <a:r>
                        <a:rPr lang="en-US" sz="20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5-field detection boxes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Polygon 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Total annotations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177403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2000" dirty="0"/>
                        <a:t>Spaghetti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3,851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47608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2000" dirty="0"/>
                        <a:t>Stringing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1,026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1,404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329575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2000" dirty="0"/>
                        <a:t>Warping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44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33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4473-6F4A-FDC9-8FAC-148F7416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and domain processing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DA29F1-AA60-0E4C-9FC2-EEFE10CA4BD3}"/>
              </a:ext>
            </a:extLst>
          </p:cNvPr>
          <p:cNvSpPr/>
          <p:nvPr/>
        </p:nvSpPr>
        <p:spPr>
          <a:xfrm>
            <a:off x="843978" y="3380126"/>
            <a:ext cx="174682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Roboflow</a:t>
            </a:r>
            <a:r>
              <a:rPr lang="en-US" dirty="0">
                <a:solidFill>
                  <a:schemeClr val="tx1"/>
                </a:solidFill>
              </a:rPr>
              <a:t> images and labels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559021-9AC9-A7A9-7CD4-327D2B52ED80}"/>
              </a:ext>
            </a:extLst>
          </p:cNvPr>
          <p:cNvSpPr/>
          <p:nvPr/>
        </p:nvSpPr>
        <p:spPr>
          <a:xfrm>
            <a:off x="3033284" y="3380126"/>
            <a:ext cx="174682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Dataset Audit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A837D7-B456-26F1-8BA7-88EF22E60FBF}"/>
              </a:ext>
            </a:extLst>
          </p:cNvPr>
          <p:cNvSpPr/>
          <p:nvPr/>
        </p:nvSpPr>
        <p:spPr>
          <a:xfrm>
            <a:off x="5222590" y="1949800"/>
            <a:ext cx="174682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Baseline (RGB)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C02F47-F671-3ACB-4718-5214CA96AF98}"/>
              </a:ext>
            </a:extLst>
          </p:cNvPr>
          <p:cNvSpPr/>
          <p:nvPr/>
        </p:nvSpPr>
        <p:spPr>
          <a:xfrm>
            <a:off x="5222590" y="3380126"/>
            <a:ext cx="174682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LAB + CLAHE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3C3A28-3F4D-5F4A-9608-5FA7A9B97951}"/>
              </a:ext>
            </a:extLst>
          </p:cNvPr>
          <p:cNvSpPr/>
          <p:nvPr/>
        </p:nvSpPr>
        <p:spPr>
          <a:xfrm>
            <a:off x="5222590" y="4810452"/>
            <a:ext cx="174682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LAB + CLAHE + Canny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38EAF-484E-A114-CF69-9B8B398B4642}"/>
              </a:ext>
            </a:extLst>
          </p:cNvPr>
          <p:cNvSpPr/>
          <p:nvPr/>
        </p:nvSpPr>
        <p:spPr>
          <a:xfrm>
            <a:off x="7411896" y="3380126"/>
            <a:ext cx="174682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YOLO26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34122F-DCEE-EC25-B0C9-C55D04F87F30}"/>
              </a:ext>
            </a:extLst>
          </p:cNvPr>
          <p:cNvSpPr/>
          <p:nvPr/>
        </p:nvSpPr>
        <p:spPr>
          <a:xfrm>
            <a:off x="9601202" y="3380126"/>
            <a:ext cx="174682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Loss, </a:t>
            </a:r>
            <a:r>
              <a:rPr lang="en-US" dirty="0" err="1">
                <a:solidFill>
                  <a:schemeClr val="tx1"/>
                </a:solidFill>
              </a:rPr>
              <a:t>mAP</a:t>
            </a:r>
            <a:r>
              <a:rPr lang="en-US" dirty="0">
                <a:solidFill>
                  <a:schemeClr val="tx1"/>
                </a:solidFill>
              </a:rPr>
              <a:t>, Precision, Recall,  per-class metrics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E66FFA-FF49-3C51-1BA4-9142340EF8AA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590798" y="3862551"/>
            <a:ext cx="442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0171F1E-9D6C-8AF0-BC89-35EF3AE91E00}"/>
              </a:ext>
            </a:extLst>
          </p:cNvPr>
          <p:cNvCxnSpPr>
            <a:cxnSpLocks/>
            <a:stCxn id="8" idx="0"/>
            <a:endCxn id="10" idx="1"/>
          </p:cNvCxnSpPr>
          <p:nvPr/>
        </p:nvCxnSpPr>
        <p:spPr>
          <a:xfrm flipV="1">
            <a:off x="3906694" y="2432225"/>
            <a:ext cx="1315896" cy="94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128521-9A00-E7C6-E95D-9DD0C6B194CA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780104" y="3862551"/>
            <a:ext cx="442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9A419D-A6C5-B2E8-59AC-D6F643401C8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906694" y="4344976"/>
            <a:ext cx="1315896" cy="95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E626721-E248-103D-A91B-CD1524BFF4C3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6969410" y="2432225"/>
            <a:ext cx="1315896" cy="94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8BD516-2330-BE31-8751-AF0BFBC3494C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6969410" y="3862551"/>
            <a:ext cx="442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22C469-D1C9-C161-36EF-CD4E37FD9822}"/>
              </a:ext>
            </a:extLst>
          </p:cNvPr>
          <p:cNvCxnSpPr>
            <a:stCxn id="14" idx="3"/>
            <a:endCxn id="16" idx="2"/>
          </p:cNvCxnSpPr>
          <p:nvPr/>
        </p:nvCxnSpPr>
        <p:spPr>
          <a:xfrm flipV="1">
            <a:off x="6969410" y="4344976"/>
            <a:ext cx="1315896" cy="94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5280F76-D881-0EBF-AB8E-9B33432C556F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9158716" y="3862551"/>
            <a:ext cx="442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70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18A8-18C0-4413-0C7F-67084A40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Implemented YOLO26 architecture</a:t>
            </a:r>
          </a:p>
        </p:txBody>
      </p:sp>
      <p:sp>
        <p:nvSpPr>
          <p:cNvPr id="101" name="Box Input"/>
          <p:cNvSpPr/>
          <p:nvPr/>
        </p:nvSpPr>
        <p:spPr>
          <a:xfrm>
            <a:off x="1121054" y="19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640×640 RGB image</a:t>
            </a:r>
          </a:p>
        </p:txBody>
      </p:sp>
      <p:sp>
        <p:nvSpPr>
          <p:cNvPr id="103" name="Box Backbone"/>
          <p:cNvSpPr/>
          <p:nvPr/>
        </p:nvSpPr>
        <p:spPr>
          <a:xfrm>
            <a:off x="3791054" y="19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Backbone
Conv + C3k2 blocks</a:t>
            </a:r>
          </a:p>
        </p:txBody>
      </p:sp>
      <p:sp>
        <p:nvSpPr>
          <p:cNvPr id="105" name="Box SPPF"/>
          <p:cNvSpPr/>
          <p:nvPr/>
        </p:nvSpPr>
        <p:spPr>
          <a:xfrm>
            <a:off x="6461054" y="19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SPPF</a:t>
            </a:r>
          </a:p>
        </p:txBody>
      </p:sp>
      <p:sp>
        <p:nvSpPr>
          <p:cNvPr id="107" name="Box C2PSA"/>
          <p:cNvSpPr/>
          <p:nvPr/>
        </p:nvSpPr>
        <p:spPr>
          <a:xfrm>
            <a:off x="9131054" y="19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C2PSA attention</a:t>
            </a:r>
          </a:p>
        </p:txBody>
      </p:sp>
      <p:sp>
        <p:nvSpPr>
          <p:cNvPr id="109" name="Box Neck"/>
          <p:cNvSpPr/>
          <p:nvPr/>
        </p:nvSpPr>
        <p:spPr>
          <a:xfrm>
            <a:off x="9131054" y="47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PAN / FPN neck</a:t>
            </a:r>
          </a:p>
        </p:txBody>
      </p:sp>
      <p:sp>
        <p:nvSpPr>
          <p:cNvPr id="111" name="Box Features"/>
          <p:cNvSpPr/>
          <p:nvPr/>
        </p:nvSpPr>
        <p:spPr>
          <a:xfrm>
            <a:off x="6461054" y="47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P3 / P4 / P5
feature maps</a:t>
            </a:r>
          </a:p>
        </p:txBody>
      </p:sp>
      <p:sp>
        <p:nvSpPr>
          <p:cNvPr id="113" name="Box Head"/>
          <p:cNvSpPr/>
          <p:nvPr/>
        </p:nvSpPr>
        <p:spPr>
          <a:xfrm>
            <a:off x="3791054" y="47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Dual detection head
(one-to-many + one-to-one)</a:t>
            </a:r>
          </a:p>
        </p:txBody>
      </p:sp>
      <p:sp>
        <p:nvSpPr>
          <p:cNvPr id="115" name="Box Output"/>
          <p:cNvSpPr/>
          <p:nvPr/>
        </p:nvSpPr>
        <p:spPr>
          <a:xfrm>
            <a:off x="1121054" y="4730109"/>
            <a:ext cx="1780000" cy="9648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Top-k decoded
detections</a:t>
            </a:r>
          </a:p>
        </p:txBody>
      </p:sp>
      <p:cxnSp>
        <p:nvCxnSpPr>
          <p:cNvPr id="121" name="Arrow1"/>
          <p:cNvCxnSpPr>
            <a:stCxn id="101" idx="3"/>
            <a:endCxn id="103" idx="1"/>
          </p:cNvCxnSpPr>
          <p:nvPr/>
        </p:nvCxnSpPr>
        <p:spPr>
          <a:xfrm>
            <a:off x="2901054" y="2412534"/>
            <a:ext cx="8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Arrow2"/>
          <p:cNvCxnSpPr>
            <a:stCxn id="103" idx="3"/>
            <a:endCxn id="105" idx="1"/>
          </p:cNvCxnSpPr>
          <p:nvPr/>
        </p:nvCxnSpPr>
        <p:spPr>
          <a:xfrm>
            <a:off x="5571054" y="2412534"/>
            <a:ext cx="8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Arrow3"/>
          <p:cNvCxnSpPr>
            <a:stCxn id="105" idx="3"/>
            <a:endCxn id="107" idx="1"/>
          </p:cNvCxnSpPr>
          <p:nvPr/>
        </p:nvCxnSpPr>
        <p:spPr>
          <a:xfrm>
            <a:off x="8241054" y="2412534"/>
            <a:ext cx="8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Arrow4"/>
          <p:cNvCxnSpPr>
            <a:stCxn id="107" idx="2"/>
            <a:endCxn id="109" idx="0"/>
          </p:cNvCxnSpPr>
          <p:nvPr/>
        </p:nvCxnSpPr>
        <p:spPr>
          <a:xfrm>
            <a:off x="10021054" y="2894959"/>
            <a:ext cx="0" cy="1835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rrow5"/>
          <p:cNvCxnSpPr>
            <a:stCxn id="109" idx="1"/>
            <a:endCxn id="111" idx="3"/>
          </p:cNvCxnSpPr>
          <p:nvPr/>
        </p:nvCxnSpPr>
        <p:spPr>
          <a:xfrm flipH="1">
            <a:off x="8241054" y="5212534"/>
            <a:ext cx="8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Arrow6"/>
          <p:cNvCxnSpPr>
            <a:stCxn id="111" idx="1"/>
            <a:endCxn id="113" idx="3"/>
          </p:cNvCxnSpPr>
          <p:nvPr/>
        </p:nvCxnSpPr>
        <p:spPr>
          <a:xfrm flipH="1">
            <a:off x="5571054" y="5212534"/>
            <a:ext cx="8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Arrow7"/>
          <p:cNvCxnSpPr>
            <a:stCxn id="113" idx="1"/>
            <a:endCxn id="115" idx="3"/>
          </p:cNvCxnSpPr>
          <p:nvPr/>
        </p:nvCxnSpPr>
        <p:spPr>
          <a:xfrm flipH="1">
            <a:off x="2901054" y="5212534"/>
            <a:ext cx="89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7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F74C-B982-C236-CAE2-C2EC80DE7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082" y="175348"/>
            <a:ext cx="8503920" cy="957262"/>
          </a:xfrm>
        </p:spPr>
        <p:txBody>
          <a:bodyPr>
            <a:normAutofit fontScale="90000"/>
          </a:bodyPr>
          <a:lstStyle/>
          <a:p>
            <a:r>
              <a:rPr lang="en-US" dirty="0"/>
              <a:t>Baseline implementation and experiment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5C3D2-4FA1-6579-5E68-EB676122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73" y="1497797"/>
            <a:ext cx="10695852" cy="166170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Training supports CUDA, AMP, gradient clipping, AdamW, and checkpointing</a:t>
            </a:r>
          </a:p>
          <a:p>
            <a:r>
              <a:rPr lang="en-US" dirty="0"/>
              <a:t>Evaluation reports loss, mAP50, mAP50–95, precision, recall, per-class AP, and a confusion matrix</a:t>
            </a:r>
          </a:p>
          <a:p>
            <a:r>
              <a:rPr lang="en-US" dirty="0"/>
              <a:t>Checkpoints saved for baseline, CLAHE, and CLAHE+Canny runs, plus learning-rate and debug/sanity experiments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3DF0B7-CE38-A10A-3DFD-A57E9BA08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072099"/>
              </p:ext>
            </p:extLst>
          </p:nvPr>
        </p:nvGraphicFramePr>
        <p:xfrm>
          <a:off x="748073" y="3301123"/>
          <a:ext cx="10695852" cy="2894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963">
                  <a:extLst>
                    <a:ext uri="{9D8B030D-6E8A-4147-A177-3AD203B41FA5}">
                      <a16:colId xmlns:a16="http://schemas.microsoft.com/office/drawing/2014/main" val="2411442208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3238891270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3229052614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4093803368"/>
                    </a:ext>
                  </a:extLst>
                </a:gridCol>
              </a:tblGrid>
              <a:tr h="716177">
                <a:tc>
                  <a:txBody>
                    <a:bodyPr/>
                    <a:lstStyle/>
                    <a:p>
                      <a:r>
                        <a:rPr lang="en-US" sz="1800" dirty="0"/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Best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Validation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177403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1800" dirty="0"/>
                        <a:t>Baseline, end-to-end, 5×10⁻⁵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13.0386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Preliminary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47608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1800" dirty="0"/>
                        <a:t>CLAHE, end-to-end, 5×10⁻⁵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13.2570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Preliminary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329575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1800" dirty="0"/>
                        <a:t>CLAHE+Canny, end-to-end, 5×10⁻⁵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13.3968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Preliminary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44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334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F74C-B982-C236-CAE2-C2EC80DE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evaluation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5C3D2-4FA1-6579-5E68-EB676122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74" y="1567070"/>
            <a:ext cx="10695852" cy="166170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Preliminary only — do not interpret as final detector accuracy until labels are normalized.</a:t>
            </a:r>
          </a:p>
          <a:p>
            <a:r>
              <a:rPr lang="en-US" dirty="0"/>
              <a:t>Baseline outperformed CLAHE and CLAHE+Canny in these preliminary runs; recall was very low overall, especially for minority classes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3DF0B7-CE38-A10A-3DFD-A57E9BA08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840375"/>
              </p:ext>
            </p:extLst>
          </p:nvPr>
        </p:nvGraphicFramePr>
        <p:xfrm>
          <a:off x="748073" y="3228777"/>
          <a:ext cx="10695852" cy="2894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963">
                  <a:extLst>
                    <a:ext uri="{9D8B030D-6E8A-4147-A177-3AD203B41FA5}">
                      <a16:colId xmlns:a16="http://schemas.microsoft.com/office/drawing/2014/main" val="2411442208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3238891270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3229052614"/>
                    </a:ext>
                  </a:extLst>
                </a:gridCol>
                <a:gridCol w="2673963">
                  <a:extLst>
                    <a:ext uri="{9D8B030D-6E8A-4147-A177-3AD203B41FA5}">
                      <a16:colId xmlns:a16="http://schemas.microsoft.com/office/drawing/2014/main" val="4093803368"/>
                    </a:ext>
                  </a:extLst>
                </a:gridCol>
              </a:tblGrid>
              <a:tr h="716177">
                <a:tc>
                  <a:txBody>
                    <a:bodyPr/>
                    <a:lstStyle/>
                    <a:p>
                      <a:r>
                        <a:rPr lang="en-US" sz="1800" dirty="0"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mAP50–95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177403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1800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Best of the three current diagnostic runs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47608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1800" dirty="0"/>
                        <a:t>CLAHE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Did not improve current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329575"/>
                  </a:ext>
                </a:extLst>
              </a:tr>
              <a:tr h="726124">
                <a:tc>
                  <a:txBody>
                    <a:bodyPr/>
                    <a:lstStyle/>
                    <a:p>
                      <a:r>
                        <a:rPr lang="en-US" sz="1800" dirty="0"/>
                        <a:t>CLAHE + Canny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Did not improve current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44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33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7B53-6E10-6E2D-52DB-7AC3ED84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10" y="300039"/>
            <a:ext cx="9479972" cy="957262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roadblock: mixed annotation geometry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1743D-F11B-81C8-A8D0-4CE9B20DA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11" y="1611213"/>
            <a:ext cx="10924978" cy="47013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Valid bounding box row:  </a:t>
            </a:r>
            <a:r>
              <a:rPr lang="en-US" dirty="0">
                <a:latin typeface="Consolas"/>
              </a:rPr>
              <a:t>1 0.52 0.40 0.18 0.12</a:t>
            </a:r>
          </a:p>
          <a:p>
            <a:r>
              <a:rPr lang="en-US" dirty="0"/>
              <a:t>Polygon row:  </a:t>
            </a:r>
            <a:r>
              <a:rPr lang="en-US" dirty="0">
                <a:latin typeface="Consolas"/>
              </a:rPr>
              <a:t>1 x1 y1 x2 y2 x3 y3 ...</a:t>
            </a:r>
          </a:p>
          <a:p>
            <a:endParaRPr lang="en-US" dirty="0"/>
          </a:p>
          <a:p>
            <a:r>
              <a:rPr lang="en-US" dirty="0"/>
              <a:t>Raw labels mix two formats: valid 5-field boxes (class, x-center, y-center, w, h) and polygon rows with variable-length coordinate lists</a:t>
            </a:r>
          </a:p>
          <a:p>
            <a:r>
              <a:rPr lang="en-US" dirty="0"/>
              <a:t>train_yolo26.py reads the first five values of any row with 5+ values — a polygon row is silently misread as [class, x_center, y_center, width, height]</a:t>
            </a:r>
          </a:p>
          <a:p>
            <a:r>
              <a:rPr lang="en-US" dirty="0"/>
              <a:t>preprocess_dataset.py only accepts exact 5-field rows for augmentation, so polygon-labeled objects are dropped from augmented copies</a:t>
            </a:r>
          </a:p>
          <a:p>
            <a:endParaRPr lang="en-US" dirty="0"/>
          </a:p>
          <a:p>
            <a:r>
              <a:rPr lang="en-US" b="1" i="1" dirty="0">
                <a:solidFill>
                  <a:schemeClr val="accent1"/>
                </a:solidFill>
              </a:rPr>
              <a:t>The initial experiments revealed that dataset integrity, rather than architecture or augmentation alone, is currently the primary limiting factor.</a:t>
            </a:r>
          </a:p>
        </p:txBody>
      </p:sp>
    </p:spTree>
    <p:extLst>
      <p:ext uri="{BB962C8B-B14F-4D97-AF65-F5344CB8AC3E}">
        <p14:creationId xmlns:p14="http://schemas.microsoft.com/office/powerpoint/2010/main" val="405877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7B53-6E10-6E2D-52DB-7AC3ED84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and corrective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1743D-F11B-81C8-A8D0-4CE9B20DA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826"/>
            <a:ext cx="10515600" cy="4701300"/>
          </a:xfrm>
        </p:spPr>
        <p:txBody>
          <a:bodyPr>
            <a:normAutofit fontScale="8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Normalize every annotation to a five-field YOLO bounding-box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Convert polygons to enclosing boxes, or re-export the dataset as true detection boxes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strict dataset validation that rejects invalid label rows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Rebuild baseline, CLAHE, and CLAHE+Canny variants after label cleanup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Re-run the no-augmentation baseline first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controlled minority-class augmentation only after clean baseline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Tune learning rate, classification weight, augmentation ratio, and confidence threshold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Compare final results using mAP50, mAP50–95, precision, recall, and per-class confusion matrices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Implement Faster R-CNN as the final architecture comparison, if scope allows</a:t>
            </a:r>
          </a:p>
        </p:txBody>
      </p:sp>
    </p:spTree>
    <p:extLst>
      <p:ext uri="{BB962C8B-B14F-4D97-AF65-F5344CB8AC3E}">
        <p14:creationId xmlns:p14="http://schemas.microsoft.com/office/powerpoint/2010/main" val="405877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7B53-6E10-6E2D-52DB-7AC3ED84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1743D-F11B-81C8-A8D0-4CE9B20DA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826"/>
            <a:ext cx="10515600" cy="4701300"/>
          </a:xfrm>
        </p:spPr>
        <p:txBody>
          <a:bodyPr>
            <a:normAutofit fontScale="97500"/>
          </a:bodyPr>
          <a:lstStyle/>
          <a:p>
            <a:r>
              <a:rPr lang="en-US" dirty="0"/>
              <a:t>At midterm, the project has </a:t>
            </a:r>
            <a:r>
              <a:rPr lang="en-US"/>
              <a:t>a functioning YOLO26-style </a:t>
            </a:r>
            <a:r>
              <a:rPr lang="en-US" dirty="0"/>
              <a:t>detection pipeline, a domain-specific image-processing study, reproducible training and evaluation tools, and initial experimental checkpoints.</a:t>
            </a:r>
          </a:p>
          <a:p>
            <a:r>
              <a:rPr lang="en-US" dirty="0"/>
              <a:t>The initial experiments exposed a critical mixed-geometry annotation issue. Rather than reporting unreliable accuracy as a final result, the project pivoted to dataset normalization and validation.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This establishes a reliable foundation for the final hyperparameter study and model comparison.</a:t>
            </a:r>
          </a:p>
        </p:txBody>
      </p:sp>
    </p:spTree>
    <p:extLst>
      <p:ext uri="{BB962C8B-B14F-4D97-AF65-F5344CB8AC3E}">
        <p14:creationId xmlns:p14="http://schemas.microsoft.com/office/powerpoint/2010/main" val="405877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7B53-6E10-6E2D-52DB-7AC3ED84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1743D-F11B-81C8-A8D0-4CE9B20DA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826"/>
            <a:ext cx="10515600" cy="47013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Hidayatullah, P., &amp; Tubagus, R. (2026). </a:t>
            </a:r>
            <a:r>
              <a:rPr lang="en-US" i="1" dirty="0"/>
              <a:t>YOLO26: A Comprehensive Architecture Overview and Key Improvements</a:t>
            </a:r>
            <a:r>
              <a:rPr lang="en-US" dirty="0"/>
              <a:t>. arXiv:2602.14582. </a:t>
            </a:r>
            <a:r>
              <a:rPr lang="en-US" dirty="0">
                <a:hlinkClick r:id="rId3"/>
              </a:rPr>
              <a:t>https://arxiv.org/abs/2602.14582</a:t>
            </a:r>
            <a:endParaRPr lang="en-US" dirty="0"/>
          </a:p>
          <a:p>
            <a:r>
              <a:rPr lang="en-US" dirty="0"/>
              <a:t>Ren, S., He, K., </a:t>
            </a:r>
            <a:r>
              <a:rPr lang="en-US" dirty="0" err="1"/>
              <a:t>Girshick</a:t>
            </a:r>
            <a:r>
              <a:rPr lang="en-US" dirty="0"/>
              <a:t>, R., &amp; Sun, J. (2015). </a:t>
            </a:r>
            <a:r>
              <a:rPr lang="en-US" i="1" dirty="0"/>
              <a:t>Faster R-CNN: Towards Real-Time Object Detection with Region Proposal Networks</a:t>
            </a:r>
            <a:r>
              <a:rPr lang="en-US" dirty="0"/>
              <a:t>. arXiv:1506.01497. </a:t>
            </a:r>
            <a:r>
              <a:rPr lang="en-US" dirty="0">
                <a:hlinkClick r:id="rId4"/>
              </a:rPr>
              <a:t>https://arxiv.org/abs/1506.01497</a:t>
            </a:r>
            <a:endParaRPr lang="en-US" dirty="0"/>
          </a:p>
          <a:p>
            <a:r>
              <a:rPr lang="en-US" dirty="0"/>
              <a:t>Mishra, A. (2021). </a:t>
            </a:r>
            <a:r>
              <a:rPr lang="en-US" i="1" dirty="0"/>
              <a:t>Contrast Limited Adaptive Histogram Equalization (CLAHE) Approach for Enhancement of the Microstructures of Friction Stir Welded Joints</a:t>
            </a:r>
            <a:r>
              <a:rPr lang="en-US" dirty="0"/>
              <a:t>. arXiv:2109.00886. </a:t>
            </a:r>
            <a:r>
              <a:rPr lang="en-US" dirty="0">
                <a:hlinkClick r:id="rId5"/>
              </a:rPr>
              <a:t>https://arxiv.org/abs/2109.00886</a:t>
            </a:r>
            <a:endParaRPr lang="en-US" dirty="0"/>
          </a:p>
          <a:p>
            <a:r>
              <a:rPr lang="en-US" dirty="0"/>
              <a:t>Rathore, P. (2026). </a:t>
            </a:r>
            <a:r>
              <a:rPr lang="en-US" i="1" dirty="0"/>
              <a:t>3D Print Failure Detection – Object Detection Dataset</a:t>
            </a:r>
            <a:r>
              <a:rPr lang="en-US" dirty="0"/>
              <a:t>. </a:t>
            </a:r>
            <a:r>
              <a:rPr lang="en-US" dirty="0" err="1"/>
              <a:t>Roboflow</a:t>
            </a:r>
            <a:r>
              <a:rPr lang="en-US" dirty="0"/>
              <a:t> Universe.</a:t>
            </a:r>
            <a:br>
              <a:rPr lang="en-US" dirty="0"/>
            </a:br>
            <a:r>
              <a:rPr lang="en-US" dirty="0">
                <a:hlinkClick r:id="rId6"/>
              </a:rPr>
              <a:t>https://universe.roboflow.com/purvi-rathore-5amqh/3d-print-failure-detection-efvsh/dataset/4</a:t>
            </a:r>
            <a:br>
              <a:rPr lang="en-US" dirty="0"/>
            </a:br>
            <a:r>
              <a:rPr lang="en-US" dirty="0"/>
              <a:t>License: CC BY 4.0</a:t>
            </a:r>
          </a:p>
        </p:txBody>
      </p:sp>
    </p:spTree>
    <p:extLst>
      <p:ext uri="{BB962C8B-B14F-4D97-AF65-F5344CB8AC3E}">
        <p14:creationId xmlns:p14="http://schemas.microsoft.com/office/powerpoint/2010/main" val="4058771111"/>
      </p:ext>
    </p:extLst>
  </p:cSld>
  <p:clrMapOvr>
    <a:masterClrMapping/>
  </p:clrMapOvr>
</p:sld>
</file>

<file path=ppt/theme/theme1.xml><?xml version="1.0" encoding="utf-8"?>
<a:theme xmlns:a="http://schemas.openxmlformats.org/drawingml/2006/main" name="WS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U" id="{1D35991F-6FC0-4AD8-9A46-EA255A4ECB29}" vid="{1268500D-CCCA-4596-902C-F88F59C606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WSU</Template>
  <TotalTime>1433</TotalTime>
  <Words>907</Words>
  <Application>Microsoft Office PowerPoint</Application>
  <PresentationFormat>Widescreen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Consolas</vt:lpstr>
      <vt:lpstr>WSU</vt:lpstr>
      <vt:lpstr>Automated Detection and Classification of 3D Printing Failures Using Image Processing and Deep Learning</vt:lpstr>
      <vt:lpstr>Condensed Literature Review</vt:lpstr>
      <vt:lpstr>Dataset and initial class distribution</vt:lpstr>
      <vt:lpstr>Data pipeline and domain processing</vt:lpstr>
      <vt:lpstr>Implemented YOLO26 architecture</vt:lpstr>
      <vt:lpstr>Baseline implementation and experiment infrastructure</vt:lpstr>
      <vt:lpstr>Preliminary evaluation findings</vt:lpstr>
      <vt:lpstr>Major roadblock: mixed annotation geometry</vt:lpstr>
      <vt:lpstr>Pivot and corrective plan</vt:lpstr>
      <vt:lpstr>Midterm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Bảo Khang Đường Huỳnh</dc:creator>
  <cp:lastModifiedBy>Bảo Khang Đường Huỳnh</cp:lastModifiedBy>
  <cp:revision>31</cp:revision>
  <dcterms:created xsi:type="dcterms:W3CDTF">2026-06-20T05:29:33Z</dcterms:created>
  <dcterms:modified xsi:type="dcterms:W3CDTF">2026-07-13T01:21:23Z</dcterms:modified>
</cp:coreProperties>
</file>